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731520"/>
            <a:ext cx="4023360" cy="4023360"/>
          </a:xfrm>
          <a:prstGeom prst="ellipse">
            <a:avLst/>
          </a:prstGeom>
          <a:solidFill>
            <a:srgbClr val="39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572000"/>
            <a:ext cx="2926080" cy="2926080"/>
          </a:xfrm>
          <a:prstGeom prst="ellipse">
            <a:avLst/>
          </a:prstGeom>
          <a:solidFill>
            <a:srgbClr val="D2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548640"/>
            <a:ext cx="4892040" cy="5669280"/>
          </a:xfrm>
          <a:prstGeom prst="roundRect">
            <a:avLst/>
          </a:prstGeom>
          <a:solidFill>
            <a:srgbClr val="1921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329184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6CFD7"/>
                </a:solidFill>
                <a:latin typeface="Microsoft YaHei"/>
              </a:rPr>
              <a:t>FIELD ISSUE 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4114800" cy="10972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非标设备项目现场
问题协同系统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3886200" cy="9144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700" b="0">
                <a:solidFill>
                  <a:srgbClr val="E2E8EE"/>
                </a:solidFill>
                <a:latin typeface="Microsoft YaHei"/>
              </a:rPr>
              <a:t>老板汇报版
聚焦价值、现状、闭环与推广。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21808"/>
            <a:ext cx="2377440" cy="475488"/>
          </a:xfrm>
          <a:prstGeom prst="roundRect">
            <a:avLst/>
          </a:prstGeom>
          <a:solidFill>
            <a:srgbClr val="353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5422392"/>
            <a:ext cx="1920240" cy="1645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现场提报 + 管理驾驶舱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841248"/>
            <a:ext cx="539496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77828F"/>
                </a:solidFill>
                <a:latin typeface="Microsoft YaHei"/>
              </a:rPr>
              <a:t>NON-STANDARD EQUIPMENT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170432"/>
            <a:ext cx="530352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9212B"/>
                </a:solidFill>
                <a:latin typeface="Microsoft YaHei"/>
              </a:rPr>
              <a:t>把 Excel OPL
升级为真正可闭环的协同系统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9008" y="1993392"/>
            <a:ext cx="493776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0">
                <a:solidFill>
                  <a:srgbClr val="4E5966"/>
                </a:solidFill>
                <a:latin typeface="Microsoft YaHei"/>
              </a:rPr>
              <a:t>目标不是替代表格本身，而是让管理层、项目经理、现场人员看到的是同一套真实状态。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79008" y="2907792"/>
            <a:ext cx="16002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7024" y="3072384"/>
            <a:ext cx="1188720" cy="228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9212B"/>
                </a:solidFill>
                <a:latin typeface="Microsoft YaHei"/>
              </a:rPr>
              <a:t>现场录入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7024" y="3410712"/>
            <a:ext cx="132588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50" b="0">
                <a:solidFill>
                  <a:srgbClr val="4E5966"/>
                </a:solidFill>
                <a:latin typeface="Microsoft YaHei"/>
              </a:rPr>
              <a:t>拍图/视频，少打字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62088" y="2907792"/>
            <a:ext cx="16002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0104" y="3072384"/>
            <a:ext cx="1188720" cy="228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9212B"/>
                </a:solidFill>
                <a:latin typeface="Microsoft YaHei"/>
              </a:rPr>
              <a:t>项目闭环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0104" y="3410712"/>
            <a:ext cx="132588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50" b="0">
                <a:solidFill>
                  <a:srgbClr val="4E5966"/>
                </a:solidFill>
                <a:latin typeface="Microsoft YaHei"/>
              </a:rPr>
              <a:t>责任、状态、验证可追踪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45168" y="2907792"/>
            <a:ext cx="16002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73184" y="3072384"/>
            <a:ext cx="1188720" cy="228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9212B"/>
                </a:solidFill>
                <a:latin typeface="Microsoft YaHei"/>
              </a:rPr>
              <a:t>管理看板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3410712"/>
            <a:ext cx="132588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50" b="0">
                <a:solidFill>
                  <a:srgbClr val="4E5966"/>
                </a:solidFill>
                <a:latin typeface="Microsoft YaHei"/>
              </a:rPr>
              <a:t>高优先级、超期、未分派一眼看清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9008" y="580644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77828F"/>
                </a:solidFill>
                <a:latin typeface="Microsoft YaHei"/>
              </a:rPr>
              <a:t>汇报对象：管理层 / 项目负责人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5806440"/>
            <a:ext cx="182880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50" b="0">
                <a:solidFill>
                  <a:srgbClr val="77828F"/>
                </a:solidFill>
                <a:latin typeface="Microsoft YaHei"/>
              </a:rPr>
              <a:t>2026-03-25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731520"/>
            <a:ext cx="4023360" cy="4023360"/>
          </a:xfrm>
          <a:prstGeom prst="ellipse">
            <a:avLst/>
          </a:prstGeom>
          <a:solidFill>
            <a:srgbClr val="39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572000"/>
            <a:ext cx="2926080" cy="2926080"/>
          </a:xfrm>
          <a:prstGeom prst="ellipse">
            <a:avLst/>
          </a:prstGeom>
          <a:solidFill>
            <a:srgbClr val="D2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78638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77828F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0896"/>
            <a:ext cx="694944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9212B"/>
                </a:solidFill>
                <a:latin typeface="Microsoft YaHei"/>
              </a:rPr>
              <a:t>一句话结论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749808"/>
            <a:ext cx="83210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4E5966"/>
                </a:solidFill>
                <a:latin typeface="Microsoft YaHei"/>
              </a:rPr>
              <a:t>这不是一个新的表格工具，而是一套项目现场问题闭环平台。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61872"/>
            <a:ext cx="109728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24128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100" b="1">
                <a:solidFill>
                  <a:srgbClr val="19212B"/>
                </a:solidFill>
                <a:latin typeface="Microsoft YaHei"/>
              </a:rPr>
              <a:t>它把“现场发生了什么、谁在负责、当前推进到哪一步、什么时候能关闭”统一到一个系统里，让现场提报、项目推进、管理判断用的是同一份真实状态。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78608"/>
            <a:ext cx="541324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1737360" cy="228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700" b="1">
                <a:solidFill>
                  <a:srgbClr val="19212B"/>
                </a:solidFill>
                <a:latin typeface="Microsoft YaHei"/>
              </a:rPr>
              <a:t>解决现状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54096"/>
            <a:ext cx="493776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80" b="0">
                <a:solidFill>
                  <a:srgbClr val="4E5966"/>
                </a:solidFill>
                <a:latin typeface="Microsoft YaHei"/>
              </a:rPr>
              <a:t>Excel 只有文字、责任不清、流转不透明、反复追问。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78608"/>
            <a:ext cx="541324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743200"/>
            <a:ext cx="1737360" cy="228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700" b="1">
                <a:solidFill>
                  <a:srgbClr val="19212B"/>
                </a:solidFill>
                <a:latin typeface="Microsoft YaHei"/>
              </a:rPr>
              <a:t>系统形态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3054096"/>
            <a:ext cx="493776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80" b="0">
                <a:solidFill>
                  <a:srgbClr val="4E5966"/>
                </a:solidFill>
                <a:latin typeface="Microsoft YaHei"/>
              </a:rPr>
              <a:t>微信小程序负责轻操作，Web 驾驶舱负责重管理，后端统一规则。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187952"/>
            <a:ext cx="541324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52544"/>
            <a:ext cx="1737360" cy="228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700" b="1">
                <a:solidFill>
                  <a:srgbClr val="19212B"/>
                </a:solidFill>
                <a:latin typeface="Microsoft YaHei"/>
              </a:rPr>
              <a:t>当前状态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63440"/>
            <a:ext cx="493776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80" b="0">
                <a:solidFill>
                  <a:srgbClr val="4E5966"/>
                </a:solidFill>
                <a:latin typeface="Microsoft YaHei"/>
              </a:rPr>
              <a:t>核心主链路已跑通，具备项目级问题库、闭环、统计、权限和附件能力。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87952"/>
            <a:ext cx="541324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700" b="1">
                <a:solidFill>
                  <a:srgbClr val="19212B"/>
                </a:solidFill>
                <a:latin typeface="Microsoft YaHei"/>
              </a:rPr>
              <a:t>管理价值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663440"/>
            <a:ext cx="493776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80" b="0">
                <a:solidFill>
                  <a:srgbClr val="4E5966"/>
                </a:solidFill>
                <a:latin typeface="Microsoft YaHei"/>
              </a:rPr>
              <a:t>把判断从“追问现场”改成“看系统状态”，把协同从被动追踪改成主动推进。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731520"/>
            <a:ext cx="4023360" cy="4023360"/>
          </a:xfrm>
          <a:prstGeom prst="ellipse">
            <a:avLst/>
          </a:prstGeom>
          <a:solidFill>
            <a:srgbClr val="39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572000"/>
            <a:ext cx="2926080" cy="2926080"/>
          </a:xfrm>
          <a:prstGeom prst="ellipse">
            <a:avLst/>
          </a:prstGeom>
          <a:solidFill>
            <a:srgbClr val="D2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78638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77828F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0896"/>
            <a:ext cx="694944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9212B"/>
                </a:solidFill>
                <a:latin typeface="Microsoft YaHei"/>
              </a:rPr>
              <a:t>为什么必须做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749808"/>
            <a:ext cx="83210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4E5966"/>
                </a:solidFill>
                <a:latin typeface="Microsoft YaHei"/>
              </a:rPr>
              <a:t>当前 Excel OPL 的问题，不在于有没有记录，而在于无法形成管理动作。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52120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72768"/>
            <a:ext cx="21031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19212B"/>
                </a:solidFill>
                <a:latin typeface="Microsoft YaHei"/>
              </a:rPr>
              <a:t>现状问题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572000" cy="4206240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700">
                <a:solidFill>
                  <a:srgbClr val="19212B"/>
                </a:solidFill>
                <a:latin typeface="Microsoft YaHei"/>
              </a:rPr>
              <a:t>记录只有文字，现场情况不完整，管理层很难在 10 秒内判断本质。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700">
                <a:solidFill>
                  <a:srgbClr val="19212B"/>
                </a:solidFill>
                <a:latin typeface="Microsoft YaHei"/>
              </a:rPr>
              <a:t>经常反复追问“这是什么问题、影响多大、谁在处理、什么时候能关”。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700">
                <a:solidFill>
                  <a:srgbClr val="19212B"/>
                </a:solidFill>
                <a:latin typeface="Microsoft YaHei"/>
              </a:rPr>
              <a:t>问题流转、责任归属、关闭验证缺乏统一规则，容易出现失焦和扯皮。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700">
                <a:solidFill>
                  <a:srgbClr val="19212B"/>
                </a:solidFill>
                <a:latin typeface="Microsoft YaHei"/>
              </a:rPr>
              <a:t>现场和管理层使用的不是同一套状态，统计分析只能靠人工汇总。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62472" y="1325880"/>
            <a:ext cx="5577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572768"/>
            <a:ext cx="22860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19212B"/>
                </a:solidFill>
                <a:latin typeface="Microsoft YaHei"/>
              </a:rPr>
              <a:t>系统要达到的结果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920240"/>
            <a:ext cx="4983480" cy="4160520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700">
                <a:solidFill>
                  <a:srgbClr val="19212B"/>
                </a:solidFill>
                <a:latin typeface="Microsoft YaHei"/>
              </a:rPr>
              <a:t>现场员工随时按项目提报问题，少打字、多拍图、多拍视频。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700">
                <a:solidFill>
                  <a:srgbClr val="19212B"/>
                </a:solidFill>
                <a:latin typeface="Microsoft YaHei"/>
              </a:rPr>
              <a:t>项目经理快速识别高优先级、超期、未分派和待验证问题。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700">
                <a:solidFill>
                  <a:srgbClr val="19212B"/>
                </a:solidFill>
                <a:latin typeface="Microsoft YaHei"/>
              </a:rPr>
              <a:t>管理层打开系统即可看每个项目当前节奏、压力和重点风险。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700">
                <a:solidFill>
                  <a:srgbClr val="19212B"/>
                </a:solidFill>
                <a:latin typeface="Microsoft YaHei"/>
              </a:rPr>
              <a:t>问题从提报到关闭形成标准闭环，附件、评论、日志和证据可追溯。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731520"/>
            <a:ext cx="4023360" cy="4023360"/>
          </a:xfrm>
          <a:prstGeom prst="ellipse">
            <a:avLst/>
          </a:prstGeom>
          <a:solidFill>
            <a:srgbClr val="39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572000"/>
            <a:ext cx="2926080" cy="2926080"/>
          </a:xfrm>
          <a:prstGeom prst="ellipse">
            <a:avLst/>
          </a:prstGeom>
          <a:solidFill>
            <a:srgbClr val="D2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78638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77828F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0896"/>
            <a:ext cx="694944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9212B"/>
                </a:solidFill>
                <a:latin typeface="Microsoft YaHei"/>
              </a:rPr>
              <a:t>系统怎么组成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749808"/>
            <a:ext cx="83210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4E5966"/>
                </a:solidFill>
                <a:latin typeface="Microsoft YaHei"/>
              </a:rPr>
              <a:t>一套后端规则，承接两端使用场景。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487168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2057400"/>
            <a:ext cx="20116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50" b="1">
                <a:solidFill>
                  <a:srgbClr val="19212B"/>
                </a:solidFill>
                <a:latin typeface="Microsoft YaHei"/>
              </a:rPr>
              <a:t>现场人员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" y="2404872"/>
            <a:ext cx="1143000" cy="320040"/>
          </a:xfrm>
          <a:prstGeom prst="roundRect">
            <a:avLst/>
          </a:prstGeom>
          <a:solidFill>
            <a:srgbClr val="F8E8D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59736"/>
            <a:ext cx="914400" cy="12801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050" b="1">
                <a:solidFill>
                  <a:srgbClr val="19212B"/>
                </a:solidFill>
                <a:latin typeface="Microsoft YaHei"/>
              </a:rPr>
              <a:t>微信小程序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907792"/>
            <a:ext cx="2084831" cy="11887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4E5966"/>
                </a:solidFill>
                <a:latin typeface="Microsoft YaHei"/>
              </a:rPr>
              <a:t>按项目提报问题
上传图片/视频
跟进评论</a:t>
            </a:r>
          </a:p>
        </p:txBody>
      </p:sp>
      <p:sp>
        <p:nvSpPr>
          <p:cNvPr id="13" name="Chevron 12"/>
          <p:cNvSpPr/>
          <p:nvPr/>
        </p:nvSpPr>
        <p:spPr>
          <a:xfrm>
            <a:off x="3273552" y="2816352"/>
            <a:ext cx="256032" cy="347472"/>
          </a:xfrm>
          <a:prstGeom prst="chevron">
            <a:avLst/>
          </a:prstGeom>
          <a:solidFill>
            <a:srgbClr val="39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1828800"/>
            <a:ext cx="2487168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057400"/>
            <a:ext cx="20116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50" b="1">
                <a:solidFill>
                  <a:srgbClr val="19212B"/>
                </a:solidFill>
                <a:latin typeface="Microsoft YaHei"/>
              </a:rPr>
              <a:t>项目经理/管理层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2736" y="2404872"/>
            <a:ext cx="1143000" cy="320040"/>
          </a:xfrm>
          <a:prstGeom prst="roundRect">
            <a:avLst/>
          </a:prstGeom>
          <a:solidFill>
            <a:srgbClr val="F8E8D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459736"/>
            <a:ext cx="914400" cy="12801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050" b="1">
                <a:solidFill>
                  <a:srgbClr val="19212B"/>
                </a:solidFill>
                <a:latin typeface="Microsoft YaHei"/>
              </a:rPr>
              <a:t>Web 管理端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2907792"/>
            <a:ext cx="2084831" cy="11887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4E5966"/>
                </a:solidFill>
                <a:latin typeface="Microsoft YaHei"/>
              </a:rPr>
              <a:t>项目问题库
驾驶舱分析
团队配置</a:t>
            </a:r>
          </a:p>
        </p:txBody>
      </p:sp>
      <p:sp>
        <p:nvSpPr>
          <p:cNvPr id="19" name="Chevron 18"/>
          <p:cNvSpPr/>
          <p:nvPr/>
        </p:nvSpPr>
        <p:spPr>
          <a:xfrm>
            <a:off x="6062472" y="2816352"/>
            <a:ext cx="256032" cy="347472"/>
          </a:xfrm>
          <a:prstGeom prst="chevron">
            <a:avLst/>
          </a:prstGeom>
          <a:solidFill>
            <a:srgbClr val="39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1828800"/>
            <a:ext cx="2487168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2057400"/>
            <a:ext cx="20116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50" b="1">
                <a:solidFill>
                  <a:srgbClr val="19212B"/>
                </a:solidFill>
                <a:latin typeface="Microsoft YaHei"/>
              </a:rPr>
              <a:t>统一业务中心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91656" y="2404872"/>
            <a:ext cx="1143000" cy="320040"/>
          </a:xfrm>
          <a:prstGeom prst="roundRect">
            <a:avLst/>
          </a:prstGeom>
          <a:solidFill>
            <a:srgbClr val="E2F2E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2459736"/>
            <a:ext cx="914400" cy="12801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050" b="1">
                <a:solidFill>
                  <a:srgbClr val="19212B"/>
                </a:solidFill>
                <a:latin typeface="Microsoft YaHei"/>
              </a:rPr>
              <a:t>Spring Boot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907792"/>
            <a:ext cx="2084831" cy="11887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4E5966"/>
                </a:solidFill>
                <a:latin typeface="Microsoft YaHei"/>
              </a:rPr>
              <a:t>状态机
RBAC
编号
超期计算</a:t>
            </a:r>
          </a:p>
        </p:txBody>
      </p:sp>
      <p:sp>
        <p:nvSpPr>
          <p:cNvPr id="25" name="Chevron 24"/>
          <p:cNvSpPr/>
          <p:nvPr/>
        </p:nvSpPr>
        <p:spPr>
          <a:xfrm>
            <a:off x="8851392" y="2816352"/>
            <a:ext cx="256032" cy="347472"/>
          </a:xfrm>
          <a:prstGeom prst="chevron">
            <a:avLst/>
          </a:prstGeom>
          <a:solidFill>
            <a:srgbClr val="39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52559" y="1828800"/>
            <a:ext cx="2487168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0575" y="2057400"/>
            <a:ext cx="20116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50" b="1">
                <a:solidFill>
                  <a:srgbClr val="19212B"/>
                </a:solidFill>
                <a:latin typeface="Microsoft YaHei"/>
              </a:rPr>
              <a:t>底层基础设施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0575" y="2404872"/>
            <a:ext cx="1143000" cy="320040"/>
          </a:xfrm>
          <a:prstGeom prst="roundRect">
            <a:avLst/>
          </a:prstGeom>
          <a:solidFill>
            <a:srgbClr val="E2F2E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871" y="2459736"/>
            <a:ext cx="914400" cy="12801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050" b="1">
                <a:solidFill>
                  <a:srgbClr val="19212B"/>
                </a:solidFill>
                <a:latin typeface="Microsoft YaHei"/>
              </a:rPr>
              <a:t>MySQL/Redis/MinIO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863" y="2907792"/>
            <a:ext cx="2084831" cy="11887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4E5966"/>
                </a:solidFill>
                <a:latin typeface="Microsoft YaHei"/>
              </a:rPr>
              <a:t>业务主库
缓存
附件对象存储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" y="5230368"/>
            <a:ext cx="1044244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5394960"/>
            <a:ext cx="996696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60" b="0">
                <a:solidFill>
                  <a:srgbClr val="4E5966"/>
                </a:solidFill>
                <a:latin typeface="Microsoft YaHei"/>
              </a:rPr>
              <a:t>核心原则：前端只负责操作体验，业务规则统一放在后端，避免状态流转和权限规则散落在页面里。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731520"/>
            <a:ext cx="4023360" cy="4023360"/>
          </a:xfrm>
          <a:prstGeom prst="ellipse">
            <a:avLst/>
          </a:prstGeom>
          <a:solidFill>
            <a:srgbClr val="39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572000"/>
            <a:ext cx="2926080" cy="2926080"/>
          </a:xfrm>
          <a:prstGeom prst="ellipse">
            <a:avLst/>
          </a:prstGeom>
          <a:solidFill>
            <a:srgbClr val="D2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78638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77828F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0896"/>
            <a:ext cx="694944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9212B"/>
                </a:solidFill>
                <a:latin typeface="Microsoft YaHei"/>
              </a:rPr>
              <a:t>问题闭环怎么运行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749808"/>
            <a:ext cx="83210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4E5966"/>
                </a:solidFill>
                <a:latin typeface="Microsoft YaHei"/>
              </a:rPr>
              <a:t>重点不是 CRUD，而是按项目、按责任、按状态推进。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74519"/>
            <a:ext cx="1664208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84247"/>
            <a:ext cx="132588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50" b="1">
                <a:solidFill>
                  <a:srgbClr val="19212B"/>
                </a:solidFill>
                <a:latin typeface="Microsoft YaHei"/>
              </a:rPr>
              <a:t>1 选择项目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58567"/>
            <a:ext cx="137160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4E5966"/>
                </a:solidFill>
                <a:latin typeface="Microsoft YaHei"/>
              </a:rPr>
              <a:t>先锁定项目，再进入该项目自己的问题库。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2432304" y="2285999"/>
            <a:ext cx="219456" cy="256032"/>
          </a:xfrm>
          <a:prstGeom prst="chevron">
            <a:avLst/>
          </a:prstGeom>
          <a:solidFill>
            <a:srgbClr val="D2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24327" y="2926080"/>
            <a:ext cx="1664208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34055" y="3035808"/>
            <a:ext cx="132588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50" b="1">
                <a:solidFill>
                  <a:srgbClr val="19212B"/>
                </a:solidFill>
                <a:latin typeface="Microsoft YaHei"/>
              </a:rPr>
              <a:t>2 现场提报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4055" y="3310128"/>
            <a:ext cx="137160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4E5966"/>
                </a:solidFill>
                <a:latin typeface="Microsoft YaHei"/>
              </a:rPr>
              <a:t>录入标题、描述、图片、视频和时间。</a:t>
            </a:r>
          </a:p>
        </p:txBody>
      </p:sp>
      <p:sp>
        <p:nvSpPr>
          <p:cNvPr id="15" name="Chevron 14"/>
          <p:cNvSpPr/>
          <p:nvPr/>
        </p:nvSpPr>
        <p:spPr>
          <a:xfrm>
            <a:off x="4306823" y="3337560"/>
            <a:ext cx="219456" cy="256032"/>
          </a:xfrm>
          <a:prstGeom prst="chevron">
            <a:avLst/>
          </a:prstGeom>
          <a:solidFill>
            <a:srgbClr val="39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98848" y="1874519"/>
            <a:ext cx="1664208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1984247"/>
            <a:ext cx="132588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50" b="1">
                <a:solidFill>
                  <a:srgbClr val="19212B"/>
                </a:solidFill>
                <a:latin typeface="Microsoft YaHei"/>
              </a:rPr>
              <a:t>3 责任分派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258567"/>
            <a:ext cx="137160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4E5966"/>
                </a:solidFill>
                <a:latin typeface="Microsoft YaHei"/>
              </a:rPr>
              <a:t>只允许分派给当前项目团队成员。</a:t>
            </a:r>
          </a:p>
        </p:txBody>
      </p:sp>
      <p:sp>
        <p:nvSpPr>
          <p:cNvPr id="19" name="Chevron 18"/>
          <p:cNvSpPr/>
          <p:nvPr/>
        </p:nvSpPr>
        <p:spPr>
          <a:xfrm>
            <a:off x="6181344" y="2285999"/>
            <a:ext cx="219456" cy="256032"/>
          </a:xfrm>
          <a:prstGeom prst="chevron">
            <a:avLst/>
          </a:prstGeom>
          <a:solidFill>
            <a:srgbClr val="D2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73368" y="2926080"/>
            <a:ext cx="1664208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3035808"/>
            <a:ext cx="132588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50" b="1">
                <a:solidFill>
                  <a:srgbClr val="19212B"/>
                </a:solidFill>
                <a:latin typeface="Microsoft YaHei"/>
              </a:rPr>
              <a:t>4 处理中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3310128"/>
            <a:ext cx="137160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4E5966"/>
                </a:solidFill>
                <a:latin typeface="Microsoft YaHei"/>
              </a:rPr>
              <a:t>通过评论、附件、时间线持续跟进。</a:t>
            </a:r>
          </a:p>
        </p:txBody>
      </p:sp>
      <p:sp>
        <p:nvSpPr>
          <p:cNvPr id="23" name="Chevron 22"/>
          <p:cNvSpPr/>
          <p:nvPr/>
        </p:nvSpPr>
        <p:spPr>
          <a:xfrm>
            <a:off x="8055864" y="3337560"/>
            <a:ext cx="219456" cy="256032"/>
          </a:xfrm>
          <a:prstGeom prst="chevron">
            <a:avLst/>
          </a:prstGeom>
          <a:solidFill>
            <a:srgbClr val="39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47888" y="1874519"/>
            <a:ext cx="1664208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1984247"/>
            <a:ext cx="132588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50" b="1">
                <a:solidFill>
                  <a:srgbClr val="19212B"/>
                </a:solidFill>
                <a:latin typeface="Microsoft YaHei"/>
              </a:rPr>
              <a:t>5 待验证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2258567"/>
            <a:ext cx="137160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4E5966"/>
                </a:solidFill>
                <a:latin typeface="Microsoft YaHei"/>
              </a:rPr>
              <a:t>提交处理说明，等待现场或项目经理验证。</a:t>
            </a:r>
          </a:p>
        </p:txBody>
      </p:sp>
      <p:sp>
        <p:nvSpPr>
          <p:cNvPr id="27" name="Chevron 26"/>
          <p:cNvSpPr/>
          <p:nvPr/>
        </p:nvSpPr>
        <p:spPr>
          <a:xfrm>
            <a:off x="9930384" y="2285999"/>
            <a:ext cx="219456" cy="256032"/>
          </a:xfrm>
          <a:prstGeom prst="chevron">
            <a:avLst/>
          </a:prstGeom>
          <a:solidFill>
            <a:srgbClr val="D2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122408" y="2926080"/>
            <a:ext cx="1664208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32136" y="3035808"/>
            <a:ext cx="132588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50" b="1">
                <a:solidFill>
                  <a:srgbClr val="19212B"/>
                </a:solidFill>
                <a:latin typeface="Microsoft YaHei"/>
              </a:rPr>
              <a:t>6 关闭归档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32136" y="3310128"/>
            <a:ext cx="137160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150" b="0">
                <a:solidFill>
                  <a:srgbClr val="4E5966"/>
                </a:solidFill>
                <a:latin typeface="Microsoft YaHei"/>
              </a:rPr>
              <a:t>记录关闭人、关闭时间、关闭说明和关闭证据。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4892040"/>
            <a:ext cx="100584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900" b="1">
                <a:solidFill>
                  <a:srgbClr val="19212B"/>
                </a:solidFill>
                <a:latin typeface="Microsoft YaHei"/>
              </a:rPr>
              <a:t>管理价值在于：每个问题都有“当前阶段、责任人、下一步、证据”，而不是停留在模糊描述。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731520"/>
            <a:ext cx="4023360" cy="4023360"/>
          </a:xfrm>
          <a:prstGeom prst="ellipse">
            <a:avLst/>
          </a:prstGeom>
          <a:solidFill>
            <a:srgbClr val="39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572000"/>
            <a:ext cx="2926080" cy="2926080"/>
          </a:xfrm>
          <a:prstGeom prst="ellipse">
            <a:avLst/>
          </a:prstGeom>
          <a:solidFill>
            <a:srgbClr val="D2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78638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77828F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0896"/>
            <a:ext cx="694944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9212B"/>
                </a:solidFill>
                <a:latin typeface="Microsoft YaHei"/>
              </a:rPr>
              <a:t>Web 端：项目视角的管理入口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749808"/>
            <a:ext cx="83210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4E5966"/>
                </a:solidFill>
                <a:latin typeface="Microsoft YaHei"/>
              </a:rPr>
              <a:t>先选项目，再进入该项目的驾驶舱和问题库。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5394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ssue_project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44752"/>
            <a:ext cx="5248656" cy="43799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81344" y="1371600"/>
            <a:ext cx="5120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shboard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444752"/>
            <a:ext cx="4974336" cy="43799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6384" y="6053328"/>
            <a:ext cx="10241280" cy="274320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34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340">
                <a:solidFill>
                  <a:srgbClr val="19212B"/>
                </a:solidFill>
                <a:latin typeface="Microsoft YaHei"/>
              </a:rPr>
              <a:t>项目入口页解决“所有项目问题混在一起”的问题，驾驶舱则负责集中呈现当前项目的节奏与风险。</a:t>
            </a:r>
          </a:p>
          <a:p>
            <a:pPr algn="l">
              <a:spcAft>
                <a:spcPts val="800"/>
              </a:spcAft>
            </a:pPr>
            <a:r>
              <a:rPr sz="134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340">
                <a:solidFill>
                  <a:srgbClr val="19212B"/>
                </a:solidFill>
                <a:latin typeface="Microsoft YaHei"/>
              </a:rPr>
              <a:t>不选项目时可以轮巡项目，适合管理层集中查看；选定项目后则进入项目级管理视角。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731520"/>
            <a:ext cx="4023360" cy="4023360"/>
          </a:xfrm>
          <a:prstGeom prst="ellipse">
            <a:avLst/>
          </a:prstGeom>
          <a:solidFill>
            <a:srgbClr val="39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572000"/>
            <a:ext cx="2926080" cy="2926080"/>
          </a:xfrm>
          <a:prstGeom prst="ellipse">
            <a:avLst/>
          </a:prstGeom>
          <a:solidFill>
            <a:srgbClr val="D2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78638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77828F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0896"/>
            <a:ext cx="694944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9212B"/>
                </a:solidFill>
                <a:latin typeface="Microsoft YaHei"/>
              </a:rPr>
              <a:t>Web 端：问题详情就是管理动作入口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749808"/>
            <a:ext cx="83210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4E5966"/>
                </a:solidFill>
                <a:latin typeface="Microsoft YaHei"/>
              </a:rPr>
              <a:t>管理层不需要看很多字段，只关心当前阶段、责任人、下一步和证据。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65836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ssue_detail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44752"/>
            <a:ext cx="6437376" cy="45628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52360" y="1700784"/>
            <a:ext cx="3657600" cy="4389120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650">
                <a:solidFill>
                  <a:srgbClr val="19212B"/>
                </a:solidFill>
                <a:latin typeface="Microsoft YaHei"/>
              </a:rPr>
              <a:t>顶部直接看问题本体和附件，避免再去翻评论找现场照片。</a:t>
            </a:r>
          </a:p>
          <a:p>
            <a:pPr algn="l">
              <a:spcAft>
                <a:spcPts val="800"/>
              </a:spcAft>
            </a:pPr>
            <a:r>
              <a:rPr sz="165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650">
                <a:solidFill>
                  <a:srgbClr val="19212B"/>
                </a:solidFill>
                <a:latin typeface="Microsoft YaHei"/>
              </a:rPr>
              <a:t>右侧只保留当前推进信息，减少和时间线重复的冗余描述。</a:t>
            </a:r>
          </a:p>
          <a:p>
            <a:pPr algn="l">
              <a:spcAft>
                <a:spcPts val="800"/>
              </a:spcAft>
            </a:pPr>
            <a:r>
              <a:rPr sz="165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650">
                <a:solidFill>
                  <a:srgbClr val="19212B"/>
                </a:solidFill>
                <a:latin typeface="Microsoft YaHei"/>
              </a:rPr>
              <a:t>时间线负责记录已发生动作，状态推进负责推动下一步动作。</a:t>
            </a:r>
          </a:p>
          <a:p>
            <a:pPr algn="l">
              <a:spcAft>
                <a:spcPts val="800"/>
              </a:spcAft>
            </a:pPr>
            <a:r>
              <a:rPr sz="165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650">
                <a:solidFill>
                  <a:srgbClr val="19212B"/>
                </a:solidFill>
                <a:latin typeface="Microsoft YaHei"/>
              </a:rPr>
              <a:t>关闭问题会记录关闭人、关闭时间、关闭说明和关闭证据。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731520"/>
            <a:ext cx="4023360" cy="4023360"/>
          </a:xfrm>
          <a:prstGeom prst="ellipse">
            <a:avLst/>
          </a:prstGeom>
          <a:solidFill>
            <a:srgbClr val="39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572000"/>
            <a:ext cx="2926080" cy="2926080"/>
          </a:xfrm>
          <a:prstGeom prst="ellipse">
            <a:avLst/>
          </a:prstGeom>
          <a:solidFill>
            <a:srgbClr val="D2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78638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77828F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0896"/>
            <a:ext cx="694944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9212B"/>
                </a:solidFill>
                <a:latin typeface="Microsoft YaHei"/>
              </a:rPr>
              <a:t>小程序：现场轻操作入口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749808"/>
            <a:ext cx="83210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4E5966"/>
                </a:solidFill>
                <a:latin typeface="Microsoft YaHei"/>
              </a:rPr>
              <a:t>登录稳定、首页清晰、入口收敛。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2423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iniapp_logi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490472"/>
            <a:ext cx="2276856" cy="46085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493008" y="1417320"/>
            <a:ext cx="263347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iniapp_home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490472"/>
            <a:ext cx="2487168" cy="46085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19088" y="1737360"/>
            <a:ext cx="4572000" cy="4389120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700">
                <a:solidFill>
                  <a:srgbClr val="19212B"/>
                </a:solidFill>
                <a:latin typeface="Microsoft YaHei"/>
              </a:rPr>
              <a:t>登录方案采用企业账号为主身份，微信只做绑定和免密入口，保证责任归属稳定。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700">
                <a:solidFill>
                  <a:srgbClr val="19212B"/>
                </a:solidFill>
                <a:latin typeface="Microsoft YaHei"/>
              </a:rPr>
              <a:t>首页只保留项目工作台、OPL 录入、项目问题库、项目统计四个主入口，不做冗余说明。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700">
                <a:solidFill>
                  <a:srgbClr val="19212B"/>
                </a:solidFill>
                <a:latin typeface="Microsoft YaHei"/>
              </a:rPr>
              <a:t>这端负责轻操作：提报、跟进、拍图/视频、看我相关的问题。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731520"/>
            <a:ext cx="4023360" cy="4023360"/>
          </a:xfrm>
          <a:prstGeom prst="ellipse">
            <a:avLst/>
          </a:prstGeom>
          <a:solidFill>
            <a:srgbClr val="39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572000"/>
            <a:ext cx="2926080" cy="2926080"/>
          </a:xfrm>
          <a:prstGeom prst="ellipse">
            <a:avLst/>
          </a:prstGeom>
          <a:solidFill>
            <a:srgbClr val="D2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78638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77828F"/>
                </a:solidFill>
                <a:latin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0896"/>
            <a:ext cx="694944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9212B"/>
                </a:solidFill>
                <a:latin typeface="Microsoft YaHei"/>
              </a:rPr>
              <a:t>身份与组织：为什么不是纯微信登录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749808"/>
            <a:ext cx="83210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4E5966"/>
                </a:solidFill>
                <a:latin typeface="Microsoft YaHei"/>
              </a:rPr>
              <a:t>权限、岗位、项目职责必须绑定企业身份。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62179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ser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90472"/>
            <a:ext cx="6071616" cy="45628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50608" y="1755648"/>
            <a:ext cx="3886200" cy="4389120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66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660">
                <a:solidFill>
                  <a:srgbClr val="19212B"/>
                </a:solidFill>
                <a:latin typeface="Microsoft YaHei"/>
              </a:rPr>
              <a:t>系统主身份是企业账号，微信只做首次绑定和后续免密进入。</a:t>
            </a:r>
          </a:p>
          <a:p>
            <a:pPr algn="l">
              <a:spcAft>
                <a:spcPts val="800"/>
              </a:spcAft>
            </a:pPr>
            <a:r>
              <a:rPr sz="166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660">
                <a:solidFill>
                  <a:srgbClr val="19212B"/>
                </a:solidFill>
                <a:latin typeface="Microsoft YaHei"/>
              </a:rPr>
              <a:t>系统角色管权限，项目成员岗位管项目内职责，避免把“岗位”和“权限”混在一起。</a:t>
            </a:r>
          </a:p>
          <a:p>
            <a:pPr algn="l">
              <a:spcAft>
                <a:spcPts val="800"/>
              </a:spcAft>
            </a:pPr>
            <a:r>
              <a:rPr sz="166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660">
                <a:solidFill>
                  <a:srgbClr val="19212B"/>
                </a:solidFill>
                <a:latin typeface="Microsoft YaHei"/>
              </a:rPr>
              <a:t>责任人下拉不是全公司所有人，而是当前项目团队成员。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731520"/>
            <a:ext cx="4023360" cy="4023360"/>
          </a:xfrm>
          <a:prstGeom prst="ellipse">
            <a:avLst/>
          </a:prstGeom>
          <a:solidFill>
            <a:srgbClr val="39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572000"/>
            <a:ext cx="2926080" cy="2926080"/>
          </a:xfrm>
          <a:prstGeom prst="ellipse">
            <a:avLst/>
          </a:prstGeom>
          <a:solidFill>
            <a:srgbClr val="D2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78638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77828F"/>
                </a:solidFill>
                <a:latin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0896"/>
            <a:ext cx="694944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9212B"/>
                </a:solidFill>
                <a:latin typeface="Microsoft YaHei"/>
              </a:rPr>
              <a:t>管理收益：统计和风险从人工追问转为系统可见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749808"/>
            <a:ext cx="83210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4E5966"/>
                </a:solidFill>
                <a:latin typeface="Microsoft YaHei"/>
              </a:rPr>
              <a:t>项目经理和管理层可以按项目快速识别重点问题。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66751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at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90472"/>
            <a:ext cx="6528816" cy="45628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3800" y="1755648"/>
            <a:ext cx="3566160" cy="4389120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639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639">
                <a:solidFill>
                  <a:srgbClr val="19212B"/>
                </a:solidFill>
                <a:latin typeface="Microsoft YaHei"/>
              </a:rPr>
              <a:t>看板能直接看到问题总数、未关闭、高优先级、超期、状态分布和趋势。</a:t>
            </a:r>
          </a:p>
          <a:p>
            <a:pPr algn="l">
              <a:spcAft>
                <a:spcPts val="800"/>
              </a:spcAft>
            </a:pPr>
            <a:r>
              <a:rPr sz="1639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639">
                <a:solidFill>
                  <a:srgbClr val="19212B"/>
                </a:solidFill>
                <a:latin typeface="Microsoft YaHei"/>
              </a:rPr>
              <a:t>项目统计必须按项目口径计算，而不是当前页口径，这个逻辑已经收口修正。</a:t>
            </a:r>
          </a:p>
          <a:p>
            <a:pPr algn="l">
              <a:spcAft>
                <a:spcPts val="800"/>
              </a:spcAft>
            </a:pPr>
            <a:r>
              <a:rPr sz="1639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639">
                <a:solidFill>
                  <a:srgbClr val="19212B"/>
                </a:solidFill>
                <a:latin typeface="Microsoft YaHei"/>
              </a:rPr>
              <a:t>这类页面适合周会、评审会和项目例会，不适合现场提报。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731520"/>
            <a:ext cx="4023360" cy="4023360"/>
          </a:xfrm>
          <a:prstGeom prst="ellipse">
            <a:avLst/>
          </a:prstGeom>
          <a:solidFill>
            <a:srgbClr val="39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572000"/>
            <a:ext cx="2926080" cy="2926080"/>
          </a:xfrm>
          <a:prstGeom prst="ellipse">
            <a:avLst/>
          </a:prstGeom>
          <a:solidFill>
            <a:srgbClr val="D2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78638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77828F"/>
                </a:solidFill>
                <a:latin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0896"/>
            <a:ext cx="694944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9212B"/>
                </a:solidFill>
                <a:latin typeface="Microsoft YaHei"/>
              </a:rPr>
              <a:t>当前已经做到哪一步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749808"/>
            <a:ext cx="83210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4E5966"/>
                </a:solidFill>
                <a:latin typeface="Microsoft YaHei"/>
              </a:rPr>
              <a:t>主链路不是 Demo 级结构，已经具备企业使用骨架。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534924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664208"/>
            <a:ext cx="1554480" cy="228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257B5C"/>
                </a:solidFill>
                <a:latin typeface="Microsoft YaHei"/>
              </a:rPr>
              <a:t>已完成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4663440" cy="3657600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600">
                <a:solidFill>
                  <a:srgbClr val="19212B"/>
                </a:solidFill>
                <a:latin typeface="Microsoft YaHei"/>
              </a:rPr>
              <a:t>项目级问题库：先选项目，再进入项目自己的问题池。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600">
                <a:solidFill>
                  <a:srgbClr val="19212B"/>
                </a:solidFill>
                <a:latin typeface="Microsoft YaHei"/>
              </a:rPr>
              <a:t>现场提报主链路：图片/视频上传、评论跟进、关闭证据。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600">
                <a:solidFill>
                  <a:srgbClr val="19212B"/>
                </a:solidFill>
                <a:latin typeface="Microsoft YaHei"/>
              </a:rPr>
              <a:t>Web 管理端：驾驶舱、项目管理、项目团队、用户管理、统计分析。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600">
                <a:solidFill>
                  <a:srgbClr val="19212B"/>
                </a:solidFill>
                <a:latin typeface="Microsoft YaHei"/>
              </a:rPr>
              <a:t>企业账号 + 微信绑定登录、RBAC、项目团队岗位、Docker 本地部署。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417320"/>
            <a:ext cx="502920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664208"/>
            <a:ext cx="1737360" cy="228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AC691A"/>
                </a:solidFill>
                <a:latin typeface="Microsoft YaHei"/>
              </a:rPr>
              <a:t>下一步建议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993392"/>
            <a:ext cx="4389120" cy="3657600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600">
                <a:solidFill>
                  <a:srgbClr val="19212B"/>
                </a:solidFill>
                <a:latin typeface="Microsoft YaHei"/>
              </a:rPr>
              <a:t>做正式培训版和上线 SOP，降低不同角色的上手门槛。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600">
                <a:solidFill>
                  <a:srgbClr val="19212B"/>
                </a:solidFill>
                <a:latin typeface="Microsoft YaHei"/>
              </a:rPr>
              <a:t>补真机域名、HTTPS 和微信后台合法域名配置，完成真实发布准备。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600">
                <a:solidFill>
                  <a:srgbClr val="19212B"/>
                </a:solidFill>
                <a:latin typeface="Microsoft YaHei"/>
              </a:rPr>
              <a:t>继续补更多真实项目数据和项目成员，形成可直接推广的模板项目。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600">
                <a:solidFill>
                  <a:srgbClr val="19212B"/>
                </a:solidFill>
                <a:latin typeface="Microsoft YaHei"/>
              </a:rPr>
              <a:t>上线后优先观察：超期识别、分派准确性、关闭证据质量。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731520"/>
            <a:ext cx="4023360" cy="4023360"/>
          </a:xfrm>
          <a:prstGeom prst="ellipse">
            <a:avLst/>
          </a:prstGeom>
          <a:solidFill>
            <a:srgbClr val="39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572000"/>
            <a:ext cx="2926080" cy="2926080"/>
          </a:xfrm>
          <a:prstGeom prst="ellipse">
            <a:avLst/>
          </a:prstGeom>
          <a:solidFill>
            <a:srgbClr val="D2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78638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77828F"/>
                </a:solidFill>
                <a:latin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0896"/>
            <a:ext cx="694944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9212B"/>
                </a:solidFill>
                <a:latin typeface="Microsoft YaHei"/>
              </a:rPr>
              <a:t>建议的落地方式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749808"/>
            <a:ext cx="83210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4E5966"/>
                </a:solidFill>
                <a:latin typeface="Microsoft YaHei"/>
              </a:rPr>
              <a:t>不要一次铺开，先从一个项目把节奏跑顺。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417320"/>
            <a:ext cx="1046988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563624"/>
            <a:ext cx="960120" cy="310896"/>
          </a:xfrm>
          <a:prstGeom prst="roundRect">
            <a:avLst/>
          </a:prstGeom>
          <a:solidFill>
            <a:srgbClr val="F8E8D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600200"/>
            <a:ext cx="804672" cy="12801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100" b="1">
                <a:solidFill>
                  <a:srgbClr val="19212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1572768"/>
            <a:ext cx="237744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700" b="1">
                <a:solidFill>
                  <a:srgbClr val="19212B"/>
                </a:solidFill>
                <a:latin typeface="Microsoft YaHei"/>
              </a:rPr>
              <a:t>单项目试运行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1563624"/>
            <a:ext cx="635508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50" b="0">
                <a:solidFill>
                  <a:srgbClr val="4E5966"/>
                </a:solidFill>
                <a:latin typeface="Microsoft YaHei"/>
              </a:rPr>
              <a:t>以 FS21 这类典型项目为试点，先把提报、分派、跟进、关闭跑顺。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2606040"/>
            <a:ext cx="1046988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2752344"/>
            <a:ext cx="960120" cy="310896"/>
          </a:xfrm>
          <a:prstGeom prst="roundRect">
            <a:avLst/>
          </a:prstGeom>
          <a:solidFill>
            <a:srgbClr val="E2F2E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788920"/>
            <a:ext cx="804672" cy="12801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100" b="1">
                <a:solidFill>
                  <a:srgbClr val="19212B"/>
                </a:solidFill>
                <a:latin typeface="Microsoft YaHei"/>
              </a:rPr>
              <a:t>阶段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" y="2761488"/>
            <a:ext cx="237744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700" b="1">
                <a:solidFill>
                  <a:srgbClr val="19212B"/>
                </a:solidFill>
                <a:latin typeface="Microsoft YaHei"/>
              </a:rPr>
              <a:t>项目团队固化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9392" y="2752344"/>
            <a:ext cx="635508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50" b="0">
                <a:solidFill>
                  <a:srgbClr val="4E5966"/>
                </a:solidFill>
                <a:latin typeface="Microsoft YaHei"/>
              </a:rPr>
              <a:t>补齐各项目成员与岗位，确保责任人下拉和项目边界准确。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3794760"/>
            <a:ext cx="1046988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" y="3941064"/>
            <a:ext cx="960120" cy="310896"/>
          </a:xfrm>
          <a:prstGeom prst="roundRect">
            <a:avLst/>
          </a:prstGeom>
          <a:solidFill>
            <a:srgbClr val="F8E8D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977640"/>
            <a:ext cx="804672" cy="12801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100" b="1">
                <a:solidFill>
                  <a:srgbClr val="19212B"/>
                </a:solidFill>
                <a:latin typeface="Microsoft YaHei"/>
              </a:rPr>
              <a:t>阶段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39696" y="3950208"/>
            <a:ext cx="237744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700" b="1">
                <a:solidFill>
                  <a:srgbClr val="19212B"/>
                </a:solidFill>
                <a:latin typeface="Microsoft YaHei"/>
              </a:rPr>
              <a:t>管理例会接入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9392" y="3941064"/>
            <a:ext cx="635508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50" b="0">
                <a:solidFill>
                  <a:srgbClr val="4E5966"/>
                </a:solidFill>
                <a:latin typeface="Microsoft YaHei"/>
              </a:rPr>
              <a:t>让项目周会直接看驾驶舱和项目统计，不再靠 Excel 汇总。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4983480"/>
            <a:ext cx="1046988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0120" y="5129784"/>
            <a:ext cx="960120" cy="310896"/>
          </a:xfrm>
          <a:prstGeom prst="roundRect">
            <a:avLst/>
          </a:prstGeom>
          <a:solidFill>
            <a:srgbClr val="E2F2E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5166360"/>
            <a:ext cx="804672" cy="12801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100" b="1">
                <a:solidFill>
                  <a:srgbClr val="19212B"/>
                </a:solidFill>
                <a:latin typeface="Microsoft YaHei"/>
              </a:rPr>
              <a:t>阶段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9696" y="5138928"/>
            <a:ext cx="237744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700" b="1">
                <a:solidFill>
                  <a:srgbClr val="19212B"/>
                </a:solidFill>
                <a:latin typeface="Microsoft YaHei"/>
              </a:rPr>
              <a:t>多项目推广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5129784"/>
            <a:ext cx="635508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50" b="0">
                <a:solidFill>
                  <a:srgbClr val="4E5966"/>
                </a:solidFill>
                <a:latin typeface="Microsoft YaHei"/>
              </a:rPr>
              <a:t>沉淀导入模板、权限模板、培训材料，再向更多项目复制。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731520"/>
            <a:ext cx="4023360" cy="4023360"/>
          </a:xfrm>
          <a:prstGeom prst="ellipse">
            <a:avLst/>
          </a:prstGeom>
          <a:solidFill>
            <a:srgbClr val="39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572000"/>
            <a:ext cx="2926080" cy="2926080"/>
          </a:xfrm>
          <a:prstGeom prst="ellipse">
            <a:avLst/>
          </a:prstGeom>
          <a:solidFill>
            <a:srgbClr val="D2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78638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77828F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0896"/>
            <a:ext cx="694944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9212B"/>
                </a:solidFill>
                <a:latin typeface="Microsoft YaHei"/>
              </a:rPr>
              <a:t>管理层需要支持什么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749808"/>
            <a:ext cx="83210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4E5966"/>
                </a:solidFill>
                <a:latin typeface="Microsoft YaHei"/>
              </a:rPr>
              <a:t>系统能落地，不只是技术问题，也取决于管理动作。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10972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737360"/>
            <a:ext cx="438912" cy="347472"/>
          </a:xfrm>
          <a:prstGeom prst="roundRect">
            <a:avLst/>
          </a:prstGeom>
          <a:solidFill>
            <a:srgbClr val="E2F2E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810512"/>
            <a:ext cx="164592" cy="10972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19212B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737360"/>
            <a:ext cx="265176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50" b="1">
                <a:solidFill>
                  <a:srgbClr val="19212B"/>
                </a:solidFill>
                <a:latin typeface="Microsoft YaHei"/>
              </a:rPr>
              <a:t>明确 OPL 是否以系统为准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048256"/>
            <a:ext cx="406908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50" b="0">
                <a:solidFill>
                  <a:srgbClr val="4E5966"/>
                </a:solidFill>
                <a:latin typeface="Microsoft YaHei"/>
              </a:rPr>
              <a:t>如果系统和 Excel 长期并行且没有主从关系，现场会回到旧习惯。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1737360"/>
            <a:ext cx="438912" cy="347472"/>
          </a:xfrm>
          <a:prstGeom prst="roundRect">
            <a:avLst/>
          </a:prstGeom>
          <a:solidFill>
            <a:srgbClr val="E2F2E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164592" cy="10972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19212B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8584" y="1737360"/>
            <a:ext cx="265176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50" b="1">
                <a:solidFill>
                  <a:srgbClr val="19212B"/>
                </a:solidFill>
                <a:latin typeface="Microsoft YaHei"/>
              </a:rPr>
              <a:t>明确项目负责人和项目团队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8584" y="2048256"/>
            <a:ext cx="406908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50" b="0">
                <a:solidFill>
                  <a:srgbClr val="4E5966"/>
                </a:solidFill>
                <a:latin typeface="Microsoft YaHei"/>
              </a:rPr>
              <a:t>项目边界和责任人池必须真实，否则分派和统计都会失真。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154680"/>
            <a:ext cx="438912" cy="347472"/>
          </a:xfrm>
          <a:prstGeom prst="roundRect">
            <a:avLst/>
          </a:prstGeom>
          <a:solidFill>
            <a:srgbClr val="E2F2E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227832"/>
            <a:ext cx="164592" cy="10972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19212B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7904" y="3154680"/>
            <a:ext cx="265176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50" b="1">
                <a:solidFill>
                  <a:srgbClr val="19212B"/>
                </a:solidFill>
                <a:latin typeface="Microsoft YaHei"/>
              </a:rPr>
              <a:t>要求关闭必须带证据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465576"/>
            <a:ext cx="406908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50" b="0">
                <a:solidFill>
                  <a:srgbClr val="4E5966"/>
                </a:solidFill>
                <a:latin typeface="Microsoft YaHei"/>
              </a:rPr>
              <a:t>只有关闭说明和证据形成标准，系统闭环才有意义。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6792" y="3154680"/>
            <a:ext cx="438912" cy="347472"/>
          </a:xfrm>
          <a:prstGeom prst="roundRect">
            <a:avLst/>
          </a:prstGeom>
          <a:solidFill>
            <a:srgbClr val="E2F2E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3227832"/>
            <a:ext cx="164592" cy="10972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19212B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154680"/>
            <a:ext cx="265176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50" b="1">
                <a:solidFill>
                  <a:srgbClr val="19212B"/>
                </a:solidFill>
                <a:latin typeface="Microsoft YaHei"/>
              </a:rPr>
              <a:t>把周会切到系统看板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3465576"/>
            <a:ext cx="406908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50" b="0">
                <a:solidFill>
                  <a:srgbClr val="4E5966"/>
                </a:solidFill>
                <a:latin typeface="Microsoft YaHei"/>
              </a:rPr>
              <a:t>一旦会议仍看 Excel，系统就会沦为二次录入工具。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172200"/>
            <a:ext cx="9875520" cy="1645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9212B"/>
                </a:solidFill>
                <a:latin typeface="Microsoft YaHei"/>
              </a:rPr>
              <a:t>如果管理动作明确，这套系统可以很快从“可用”进入“被真正使用”。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731520"/>
            <a:ext cx="4023360" cy="4023360"/>
          </a:xfrm>
          <a:prstGeom prst="ellipse">
            <a:avLst/>
          </a:prstGeom>
          <a:solidFill>
            <a:srgbClr val="39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572000"/>
            <a:ext cx="2926080" cy="2926080"/>
          </a:xfrm>
          <a:prstGeom prst="ellipse">
            <a:avLst/>
          </a:prstGeom>
          <a:solidFill>
            <a:srgbClr val="D2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78638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77828F"/>
                </a:solidFill>
                <a:latin typeface="Microsoft Ya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0896"/>
            <a:ext cx="694944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9212B"/>
                </a:solidFill>
                <a:latin typeface="Microsoft YaHei"/>
              </a:rPr>
              <a:t>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749808"/>
            <a:ext cx="83210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4E5966"/>
                </a:solidFill>
                <a:latin typeface="Microsoft YaHei"/>
              </a:rPr>
              <a:t>建议进入试运行和推广准备阶段。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08760"/>
            <a:ext cx="107899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100584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19212B"/>
                </a:solidFill>
                <a:latin typeface="Microsoft YaHei"/>
              </a:rPr>
              <a:t>系统已经具备从“项目选择 -&gt; 现场提报 -&gt; 责任分派 -&gt; 跟进推进 -&gt; 验证关闭 -&gt; 管理统计”的完整骨架，下一步最重要的是按项目试运行、把管理会议切到系统、把关闭证据做实。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9966960" cy="1097280"/>
          </a:xfrm>
          <a:prstGeom prst="rect">
            <a:avLst/>
          </a:prstGeom>
          <a:noFill/>
        </p:spPr>
        <p:txBody>
          <a:bodyPr wrap="square" lIns="762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700">
                <a:solidFill>
                  <a:srgbClr val="19212B"/>
                </a:solidFill>
                <a:latin typeface="Microsoft YaHei"/>
              </a:rPr>
              <a:t>建议先用 1 个项目跑顺，再模板化复制到更多项目。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399185"/>
                </a:solidFill>
                <a:latin typeface="Microsoft YaHei"/>
              </a:rPr>
              <a:t>• </a:t>
            </a:r>
            <a:r>
              <a:rPr sz="1700">
                <a:solidFill>
                  <a:srgbClr val="19212B"/>
                </a:solidFill>
                <a:latin typeface="Microsoft YaHei"/>
              </a:rPr>
              <a:t>技术栈与部署方式已经适合企业内网和私有化持续迭代。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074920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19212B"/>
                </a:solidFill>
                <a:latin typeface="Microsoft YaHei"/>
              </a:rPr>
              <a:t>谢谢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468112"/>
            <a:ext cx="475488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0">
                <a:solidFill>
                  <a:srgbClr val="4E5966"/>
                </a:solidFill>
                <a:latin typeface="Microsoft YaHei"/>
              </a:rPr>
              <a:t>Q&amp;A / 下一步可直接进入试运行筹备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