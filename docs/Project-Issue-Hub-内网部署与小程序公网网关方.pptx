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0352" y="502920"/>
            <a:ext cx="4800600" cy="5669280"/>
          </a:xfrm>
          <a:prstGeom prst="roundRect">
            <a:avLst/>
          </a:prstGeom>
          <a:solidFill>
            <a:srgbClr val="18212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822960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>
                <a:solidFill>
                  <a:srgbClr val="CDD5DC"/>
                </a:solidFill>
                <a:latin typeface="Microsoft YaHei"/>
              </a:rPr>
              <a:t>PROJECT ISSUE 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170432"/>
            <a:ext cx="3931920" cy="11430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Microsoft YaHei"/>
              </a:rPr>
              <a:t>内网核心系统</a:t>
            </a:r>
            <a:r>
              <a:rPr sz="2800" b="1" dirty="0">
                <a:solidFill>
                  <a:srgbClr val="FFFFFF"/>
                </a:solidFill>
                <a:latin typeface="Microsoft YaHei"/>
              </a:rPr>
              <a:t> +</a:t>
            </a:r>
          </a:p>
          <a:p>
            <a:pPr algn="l"/>
            <a:r>
              <a:rPr sz="2800" b="1" dirty="0" err="1">
                <a:solidFill>
                  <a:srgbClr val="FFFFFF"/>
                </a:solidFill>
                <a:latin typeface="Microsoft YaHei"/>
              </a:rPr>
              <a:t>小程序公网网关方案</a:t>
            </a:r>
            <a:endParaRPr sz="2800" b="1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8" y="2834640"/>
            <a:ext cx="3840480" cy="543739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00" b="0" dirty="0" err="1">
                <a:solidFill>
                  <a:srgbClr val="E0E7EC"/>
                </a:solidFill>
                <a:latin typeface="Microsoft YaHei"/>
              </a:rPr>
              <a:t>目标是数据留内网、管理端走内网、小程序正式可上线</a:t>
            </a:r>
            <a:r>
              <a:rPr sz="1600" b="0" dirty="0">
                <a:solidFill>
                  <a:srgbClr val="E0E7EC"/>
                </a:solidFill>
                <a:latin typeface="Microsoft YaHei"/>
              </a:rPr>
              <a:t>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376672"/>
            <a:ext cx="2697480" cy="457200"/>
          </a:xfrm>
          <a:prstGeom prst="roundRect">
            <a:avLst/>
          </a:prstGeom>
          <a:solidFill>
            <a:srgbClr val="36404A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1" y="5468112"/>
            <a:ext cx="2286000" cy="14630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icrosoft YaHei"/>
              </a:rPr>
              <a:t>Private Core + Public Gateway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8" y="868680"/>
            <a:ext cx="5394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0">
                <a:solidFill>
                  <a:srgbClr val="7B8590"/>
                </a:solidFill>
                <a:latin typeface="Microsoft YaHei"/>
              </a:rPr>
              <a:t>FOR LEADERSHIP &amp;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6128" y="1170432"/>
            <a:ext cx="5577840" cy="8229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500" b="1" dirty="0" err="1">
                <a:solidFill>
                  <a:srgbClr val="18212B"/>
                </a:solidFill>
                <a:latin typeface="Microsoft YaHei"/>
              </a:rPr>
              <a:t>核心系统不对公网裸露</a:t>
            </a:r>
            <a:r>
              <a:rPr sz="2500" b="1" dirty="0">
                <a:solidFill>
                  <a:srgbClr val="18212B"/>
                </a:solidFill>
                <a:latin typeface="Microsoft YaHei"/>
              </a:rPr>
              <a:t>，</a:t>
            </a:r>
          </a:p>
          <a:p>
            <a:pPr algn="l"/>
            <a:r>
              <a:rPr sz="2500" b="1" dirty="0" err="1">
                <a:solidFill>
                  <a:srgbClr val="18212B"/>
                </a:solidFill>
                <a:latin typeface="Microsoft YaHei"/>
              </a:rPr>
              <a:t>微信小程序只通过一层受控</a:t>
            </a:r>
            <a:r>
              <a:rPr sz="2500" b="1" dirty="0">
                <a:solidFill>
                  <a:srgbClr val="18212B"/>
                </a:solidFill>
                <a:latin typeface="Microsoft YaHei"/>
              </a:rPr>
              <a:t> HTTPS </a:t>
            </a:r>
            <a:r>
              <a:rPr sz="2500" b="1" dirty="0" err="1">
                <a:solidFill>
                  <a:srgbClr val="18212B"/>
                </a:solidFill>
                <a:latin typeface="Microsoft YaHei"/>
              </a:rPr>
              <a:t>网关访问</a:t>
            </a:r>
            <a:r>
              <a:rPr sz="2500" b="1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1050" y="2190422"/>
            <a:ext cx="5120640" cy="118872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Web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管理端仅开放公司内网访问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Backend / MySQL / Redis /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MinIO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全部保留在内网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微信小程序只访问一个公网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HTTPS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域名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pic>
        <p:nvPicPr>
          <p:cNvPr id="15" name="Picture 14" descr="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3456432"/>
            <a:ext cx="3291840" cy="2148840"/>
          </a:xfrm>
          <a:prstGeom prst="rect">
            <a:avLst/>
          </a:prstGeom>
        </p:spPr>
      </p:pic>
      <p:pic>
        <p:nvPicPr>
          <p:cNvPr id="16" name="Picture 15" descr="miniapp_home_r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5712" y="3456432"/>
            <a:ext cx="1965960" cy="214884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46920" y="6236208"/>
            <a:ext cx="1417320" cy="12801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r"/>
            <a:r>
              <a:rPr sz="1050" b="0">
                <a:solidFill>
                  <a:srgbClr val="7B8590"/>
                </a:solidFill>
                <a:latin typeface="Microsoft YaHei"/>
              </a:rPr>
              <a:t>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为什么要这样部署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这页先解决领导和 IT 的同一个疑问：为什么不能简单做成纯内网小程序。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12080" cy="5074920"/>
          </a:xfrm>
          <a:prstGeom prst="roundRect">
            <a:avLst/>
          </a:prstGeom>
          <a:solidFill>
            <a:srgbClr val="F8E9D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645920"/>
            <a:ext cx="29260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>
                <a:solidFill>
                  <a:srgbClr val="18212B"/>
                </a:solidFill>
                <a:latin typeface="Microsoft YaHei"/>
              </a:rPr>
              <a:t>当前诉求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1993392"/>
            <a:ext cx="4572000" cy="3749039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公司希望核心系统和数据尽量留在内网，降低暴露面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但现场人员和管理层又需要在手机端、外网环境下使用小程序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同时系统还涉及图片、视频上传与预览，链路不能太脆弱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最终目标不是演示可访问，而是正式上线后稳定、可审计、可维护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325880"/>
            <a:ext cx="530352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82512" y="1645920"/>
            <a:ext cx="27432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>
                <a:solidFill>
                  <a:srgbClr val="18212B"/>
                </a:solidFill>
                <a:latin typeface="Microsoft YaHei"/>
              </a:rPr>
              <a:t>关键事实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1993392"/>
            <a:ext cx="4663440" cy="338328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微信小程序正式版必须配置合法域名，且要求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HTTPS。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手机端必须真实访问到这个域名，纯内网地址无法满足小程序要求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因此不能让小程序直连纯内网服务，但可以让它访问一个最小化公网网关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正确思路不是把系统搬到公网，而是只暴露一个受控入口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40680"/>
            <a:ext cx="4572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 dirty="0" err="1">
                <a:solidFill>
                  <a:srgbClr val="B84A3A"/>
                </a:solidFill>
                <a:latin typeface="Microsoft YaHei"/>
              </a:rPr>
              <a:t>结论：数据留内网，入口走公网网关，是这套系统最稳妥的落地方式</a:t>
            </a:r>
            <a:r>
              <a:rPr sz="1800" b="1" dirty="0">
                <a:solidFill>
                  <a:srgbClr val="B84A3A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推荐架构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把“谁在用、谁对外、谁留内网”拆清楚，后续 IT 才好实施。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600200"/>
            <a:ext cx="2240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9536" y="1801368"/>
            <a:ext cx="1984248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800" b="1">
                <a:solidFill>
                  <a:srgbClr val="18212B"/>
                </a:solidFill>
                <a:latin typeface="Microsoft YaHei"/>
              </a:rPr>
              <a:t>微信小程序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30552"/>
            <a:ext cx="1984248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50" b="0">
                <a:solidFill>
                  <a:srgbClr val="4F5A67"/>
                </a:solidFill>
                <a:latin typeface="Microsoft YaHei"/>
              </a:rPr>
              <a:t>现场人员 / 管理层</a:t>
            </a:r>
          </a:p>
          <a:p>
            <a:pPr algn="ctr"/>
            <a:r>
              <a:rPr sz="1250" b="0">
                <a:solidFill>
                  <a:srgbClr val="4F5A67"/>
                </a:solidFill>
                <a:latin typeface="Microsoft YaHei"/>
              </a:rPr>
              <a:t>手机外网访问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1417320"/>
            <a:ext cx="3931920" cy="141732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77055" y="1618488"/>
            <a:ext cx="3675888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800" b="1">
                <a:solidFill>
                  <a:srgbClr val="18212B"/>
                </a:solidFill>
                <a:latin typeface="Microsoft YaHei"/>
              </a:rPr>
              <a:t>公网 HTTPS 网关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77055" y="1947672"/>
            <a:ext cx="3675888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50" b="0">
                <a:solidFill>
                  <a:srgbClr val="4F5A67"/>
                </a:solidFill>
                <a:latin typeface="Microsoft YaHei"/>
              </a:rPr>
              <a:t>pih-api.company.com</a:t>
            </a:r>
          </a:p>
          <a:p>
            <a:pPr algn="ctr"/>
            <a:r>
              <a:rPr sz="1250" b="0">
                <a:solidFill>
                  <a:srgbClr val="4F5A67"/>
                </a:solidFill>
                <a:latin typeface="Microsoft YaHei"/>
              </a:rPr>
              <a:t>Nginx / WAF / API Gateway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600200"/>
            <a:ext cx="3154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49056" y="1801368"/>
            <a:ext cx="2898648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800" b="1">
                <a:solidFill>
                  <a:srgbClr val="18212B"/>
                </a:solidFill>
                <a:latin typeface="Microsoft YaHei"/>
              </a:rPr>
              <a:t>内网浏览器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6" y="2130552"/>
            <a:ext cx="2898648" cy="4572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250" b="0">
                <a:solidFill>
                  <a:srgbClr val="4F5A67"/>
                </a:solidFill>
                <a:latin typeface="Microsoft YaHei"/>
              </a:rPr>
              <a:t>项目经理 / 管理层 / 管理员</a:t>
            </a:r>
          </a:p>
        </p:txBody>
      </p:sp>
      <p:sp>
        <p:nvSpPr>
          <p:cNvPr id="18" name="Chevron 17"/>
          <p:cNvSpPr/>
          <p:nvPr/>
        </p:nvSpPr>
        <p:spPr>
          <a:xfrm>
            <a:off x="3063240" y="1901952"/>
            <a:ext cx="420624" cy="384048"/>
          </a:xfrm>
          <a:prstGeom prst="chevron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7818120" y="1901952"/>
            <a:ext cx="420624" cy="384048"/>
          </a:xfrm>
          <a:prstGeom prst="chevron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4128" y="3337560"/>
            <a:ext cx="100584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34440" y="3584448"/>
            <a:ext cx="22860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900" b="1">
                <a:solidFill>
                  <a:srgbClr val="18212B"/>
                </a:solidFill>
                <a:latin typeface="Microsoft YaHei"/>
              </a:rPr>
              <a:t>内网核心区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25880" y="3977639"/>
            <a:ext cx="1572768" cy="96012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4151376"/>
            <a:ext cx="13716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50" b="1">
                <a:solidFill>
                  <a:srgbClr val="18212B"/>
                </a:solidFill>
                <a:latin typeface="Microsoft YaHei"/>
              </a:rPr>
              <a:t>Web 管理端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99032" y="4425696"/>
            <a:ext cx="14173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20" b="0">
                <a:solidFill>
                  <a:srgbClr val="4F5A67"/>
                </a:solidFill>
                <a:latin typeface="Microsoft YaHei"/>
              </a:rPr>
              <a:t>Vue3</a:t>
            </a:r>
          </a:p>
          <a:p>
            <a:pPr algn="ctr"/>
            <a:r>
              <a:rPr sz="1120" b="0">
                <a:solidFill>
                  <a:srgbClr val="4F5A67"/>
                </a:solidFill>
                <a:latin typeface="Microsoft YaHei"/>
              </a:rPr>
              <a:t>仅内网开放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10128" y="3977639"/>
            <a:ext cx="1572768" cy="96012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01568" y="4151376"/>
            <a:ext cx="13716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50" b="1">
                <a:solidFill>
                  <a:srgbClr val="18212B"/>
                </a:solidFill>
                <a:latin typeface="Microsoft YaHei"/>
              </a:rP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425696"/>
            <a:ext cx="14173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20" b="0">
                <a:solidFill>
                  <a:srgbClr val="4F5A67"/>
                </a:solidFill>
                <a:latin typeface="Microsoft YaHei"/>
              </a:rPr>
              <a:t>Spring Boot</a:t>
            </a:r>
          </a:p>
          <a:p>
            <a:pPr algn="ctr"/>
            <a:r>
              <a:rPr sz="1120" b="0">
                <a:solidFill>
                  <a:srgbClr val="4F5A67"/>
                </a:solidFill>
                <a:latin typeface="Microsoft YaHei"/>
              </a:rPr>
              <a:t>统一业务规则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30952" y="3977639"/>
            <a:ext cx="1572768" cy="96012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22392" y="4151376"/>
            <a:ext cx="13716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50" b="1">
                <a:solidFill>
                  <a:srgbClr val="18212B"/>
                </a:solidFill>
                <a:latin typeface="Microsoft YaHei"/>
              </a:rPr>
              <a:t>MySQL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4104" y="4425696"/>
            <a:ext cx="14173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20" b="0">
                <a:solidFill>
                  <a:srgbClr val="4F5A67"/>
                </a:solidFill>
                <a:latin typeface="Microsoft YaHei"/>
              </a:rPr>
              <a:t>业务主数据库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0" y="3977639"/>
            <a:ext cx="1572768" cy="96012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06640" y="4151376"/>
            <a:ext cx="13716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50" b="1">
                <a:solidFill>
                  <a:srgbClr val="18212B"/>
                </a:solidFill>
                <a:latin typeface="Microsoft YaHei"/>
              </a:rPr>
              <a:t>Redis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4425696"/>
            <a:ext cx="14173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20" b="0">
                <a:solidFill>
                  <a:srgbClr val="4F5A67"/>
                </a:solidFill>
                <a:latin typeface="Microsoft YaHei"/>
              </a:rPr>
              <a:t>缓存 / 会话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977639"/>
            <a:ext cx="1572768" cy="960120"/>
          </a:xfrm>
          <a:prstGeom prst="roundRect">
            <a:avLst/>
          </a:prstGeom>
          <a:solidFill>
            <a:srgbClr val="F7F3EC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235440" y="4151376"/>
            <a:ext cx="1371600" cy="164592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550" b="1">
                <a:solidFill>
                  <a:srgbClr val="18212B"/>
                </a:solidFill>
                <a:latin typeface="Microsoft YaHei"/>
              </a:rPr>
              <a:t>MinIO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4425696"/>
            <a:ext cx="1417320" cy="237744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120" b="0">
                <a:solidFill>
                  <a:srgbClr val="4F5A67"/>
                </a:solidFill>
                <a:latin typeface="Microsoft YaHei"/>
              </a:rPr>
              <a:t>图片 / 视频附件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什么应该暴露，什么不应该暴露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这页给 IT 做边界判断，也方便领导理解风险控制点。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512064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190488" y="1325880"/>
            <a:ext cx="5257800" cy="5120640"/>
          </a:xfrm>
          <a:prstGeom prst="roundRect">
            <a:avLst/>
          </a:prstGeom>
          <a:solidFill>
            <a:srgbClr val="FBEBE6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664208"/>
            <a:ext cx="256032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 dirty="0" err="1">
                <a:solidFill>
                  <a:srgbClr val="18212B"/>
                </a:solidFill>
                <a:latin typeface="Microsoft YaHei"/>
              </a:rPr>
              <a:t>允许对公网开放</a:t>
            </a:r>
            <a:endParaRPr sz="2000" b="1" dirty="0">
              <a:solidFill>
                <a:srgbClr val="18212B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87552" y="1993392"/>
            <a:ext cx="4572000" cy="40233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小程序必要接口：登录、项目列表、问题列表、问题详情、评论、状态流转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附件上传与附件预览接口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字典只读接口，例如分类、来源、责任部门等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仅通过一个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HTTPS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域名统一出口，不开放零散端口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64208"/>
            <a:ext cx="27432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>
                <a:solidFill>
                  <a:srgbClr val="18212B"/>
                </a:solidFill>
                <a:latin typeface="Microsoft YaHei"/>
              </a:rPr>
              <a:t>不建议对公网开放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1993392"/>
            <a:ext cx="4572000" cy="40233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Web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管理后台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MySQL / Redis /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MinIO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Console。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管理员接口、用户管理、项目团队、字典管理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Swagger、运维接口、内部报表接口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网络与防火墙建议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把链路缩到最小，避免“能访问”变成“都能访问”。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109728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627632"/>
            <a:ext cx="13258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>
                <a:solidFill>
                  <a:srgbClr val="7B8590"/>
                </a:solidFill>
                <a:latin typeface="Microsoft YaHei"/>
              </a:rPr>
              <a:t>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62763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>
                <a:solidFill>
                  <a:srgbClr val="7B8590"/>
                </a:solidFill>
                <a:latin typeface="Microsoft YaHei"/>
              </a:rPr>
              <a:t>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627632"/>
            <a:ext cx="822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>
                <a:solidFill>
                  <a:srgbClr val="7B8590"/>
                </a:solidFill>
                <a:latin typeface="Microsoft YaHei"/>
              </a:rPr>
              <a:t>端口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1627632"/>
            <a:ext cx="11430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>
                <a:solidFill>
                  <a:srgbClr val="7B8590"/>
                </a:solidFill>
                <a:latin typeface="Microsoft YaHei"/>
              </a:rPr>
              <a:t>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27632"/>
            <a:ext cx="46634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1">
                <a:solidFill>
                  <a:srgbClr val="7B8590"/>
                </a:solidFill>
                <a:latin typeface="Microsoft YaHei"/>
              </a:rPr>
              <a:t>说明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" y="1901952"/>
            <a:ext cx="10652760" cy="438912"/>
          </a:xfrm>
          <a:prstGeom prst="roundRect">
            <a:avLst/>
          </a:prstGeom>
          <a:solidFill>
            <a:srgbClr val="F7F3E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1993392"/>
            <a:ext cx="13258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公网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199339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公网网关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1993392"/>
            <a:ext cx="822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443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1993392"/>
            <a:ext cx="11430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>
                <a:solidFill>
                  <a:srgbClr val="18212B"/>
                </a:solidFill>
                <a:latin typeface="Microsoft YaHei"/>
              </a:rPr>
              <a:t>开放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1993392"/>
            <a:ext cx="46634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小程序正式访问入口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" y="2450592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2542032"/>
            <a:ext cx="13258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公网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254203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内网 Backend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2542032"/>
            <a:ext cx="822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-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542032"/>
            <a:ext cx="11430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>
                <a:solidFill>
                  <a:srgbClr val="18212B"/>
                </a:solidFill>
                <a:latin typeface="Microsoft YaHei"/>
              </a:rPr>
              <a:t>关闭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542032"/>
            <a:ext cx="46634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禁止直连业务服务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9536" y="2999232"/>
            <a:ext cx="10652760" cy="438912"/>
          </a:xfrm>
          <a:prstGeom prst="roundRect">
            <a:avLst/>
          </a:prstGeom>
          <a:solidFill>
            <a:srgbClr val="F7F3E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96112" y="3090672"/>
            <a:ext cx="13258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公网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309067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MySQL / Redis / MinIO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3090672"/>
            <a:ext cx="822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-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57800" y="3090672"/>
            <a:ext cx="11430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>
                <a:solidFill>
                  <a:srgbClr val="18212B"/>
                </a:solidFill>
                <a:latin typeface="Microsoft YaHei"/>
              </a:rPr>
              <a:t>关闭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090672"/>
            <a:ext cx="46634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禁止直连数据层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" y="3547872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96112" y="3639312"/>
            <a:ext cx="13258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公网网关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363931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内网 Backend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3639312"/>
            <a:ext cx="822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8081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3639312"/>
            <a:ext cx="11430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>
                <a:solidFill>
                  <a:srgbClr val="18212B"/>
                </a:solidFill>
                <a:latin typeface="Microsoft YaHei"/>
              </a:rPr>
              <a:t>白名单开放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3639312"/>
            <a:ext cx="46634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仅网关服务器可访问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9536" y="4096512"/>
            <a:ext cx="10652760" cy="438912"/>
          </a:xfrm>
          <a:prstGeom prst="roundRect">
            <a:avLst/>
          </a:prstGeom>
          <a:solidFill>
            <a:srgbClr val="F7F3E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96112" y="4187952"/>
            <a:ext cx="13258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Backend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18795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MySQL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60520" y="4187952"/>
            <a:ext cx="822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3306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4187952"/>
            <a:ext cx="11430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>
                <a:solidFill>
                  <a:srgbClr val="18212B"/>
                </a:solidFill>
                <a:latin typeface="Microsoft YaHei"/>
              </a:rPr>
              <a:t>内网开放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7960" y="4187952"/>
            <a:ext cx="46634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业务数据读写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9536" y="4645152"/>
            <a:ext cx="10652760" cy="438912"/>
          </a:xfrm>
          <a:prstGeom prst="roundRect">
            <a:avLst/>
          </a:prstGeom>
          <a:solidFill>
            <a:srgbClr val="FFFFFF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6112" y="4736592"/>
            <a:ext cx="13258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Backend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423160" y="473659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Redis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60520" y="4736592"/>
            <a:ext cx="822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6379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57800" y="4736592"/>
            <a:ext cx="11430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>
                <a:solidFill>
                  <a:srgbClr val="18212B"/>
                </a:solidFill>
                <a:latin typeface="Microsoft YaHei"/>
              </a:rPr>
              <a:t>内网开放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37960" y="4736592"/>
            <a:ext cx="46634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缓存 / 会话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9536" y="5193792"/>
            <a:ext cx="10652760" cy="438912"/>
          </a:xfrm>
          <a:prstGeom prst="roundRect">
            <a:avLst/>
          </a:prstGeom>
          <a:solidFill>
            <a:srgbClr val="F7F3E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96112" y="5285231"/>
            <a:ext cx="132588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Backend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423160" y="5285231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MinIO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5285231"/>
            <a:ext cx="82296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18212B"/>
                </a:solidFill>
                <a:latin typeface="Microsoft YaHei"/>
              </a:rPr>
              <a:t>9000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257800" y="5285231"/>
            <a:ext cx="11430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1">
                <a:solidFill>
                  <a:srgbClr val="18212B"/>
                </a:solidFill>
                <a:latin typeface="Microsoft YaHei"/>
              </a:rPr>
              <a:t>内网开放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37960" y="5285231"/>
            <a:ext cx="46634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附件存取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安全与审计控制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给领导的是放心点，给 IT 的是落地点。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57800" cy="123444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53619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访问控制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1847088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4F5A67"/>
                </a:solidFill>
                <a:latin typeface="Microsoft YaHei"/>
              </a:rPr>
              <a:t>公网只开 443，只代理 /api/，其余路径一律拒绝。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257800" cy="123444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3619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身份认证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1847088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 dirty="0" err="1">
                <a:solidFill>
                  <a:srgbClr val="4F5A67"/>
                </a:solidFill>
                <a:latin typeface="Microsoft YaHei"/>
              </a:rPr>
              <a:t>小程序走微信绑定</a:t>
            </a:r>
            <a:r>
              <a:rPr sz="1350" b="0" dirty="0">
                <a:solidFill>
                  <a:srgbClr val="4F5A67"/>
                </a:solidFill>
                <a:latin typeface="Microsoft YaHei"/>
              </a:rPr>
              <a:t> + </a:t>
            </a:r>
            <a:r>
              <a:rPr sz="1350" b="0" dirty="0" err="1">
                <a:solidFill>
                  <a:srgbClr val="4F5A67"/>
                </a:solidFill>
                <a:latin typeface="Microsoft YaHei"/>
              </a:rPr>
              <a:t>JWT，Web</a:t>
            </a:r>
            <a:r>
              <a:rPr sz="1350" b="0" dirty="0">
                <a:solidFill>
                  <a:srgbClr val="4F5A67"/>
                </a:solidFill>
                <a:latin typeface="Microsoft YaHei"/>
              </a:rPr>
              <a:t> </a:t>
            </a:r>
            <a:r>
              <a:rPr sz="1350" b="0" dirty="0" err="1">
                <a:solidFill>
                  <a:srgbClr val="4F5A67"/>
                </a:solidFill>
                <a:latin typeface="Microsoft YaHei"/>
              </a:rPr>
              <a:t>走账号密码</a:t>
            </a:r>
            <a:r>
              <a:rPr sz="1350" b="0" dirty="0">
                <a:solidFill>
                  <a:srgbClr val="4F5A67"/>
                </a:solidFill>
                <a:latin typeface="Microsoft YaHei"/>
              </a:rPr>
              <a:t> + RBAC。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926080"/>
            <a:ext cx="5257800" cy="1234440"/>
          </a:xfrm>
          <a:prstGeom prst="roundRect">
            <a:avLst/>
          </a:prstGeom>
          <a:solidFill>
            <a:srgbClr val="F8E9D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09067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 dirty="0" err="1">
                <a:solidFill>
                  <a:srgbClr val="18212B"/>
                </a:solidFill>
                <a:latin typeface="Microsoft YaHei"/>
              </a:rPr>
              <a:t>附件策略</a:t>
            </a:r>
            <a:endParaRPr sz="1650" b="1" dirty="0">
              <a:solidFill>
                <a:srgbClr val="18212B"/>
              </a:solidFill>
              <a:latin typeface="Microsoft YaHe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77824" y="3401568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 dirty="0" err="1">
                <a:solidFill>
                  <a:srgbClr val="4F5A67"/>
                </a:solidFill>
                <a:latin typeface="Microsoft YaHei"/>
              </a:rPr>
              <a:t>图片和视频仍走后端接口中转，不直接暴露</a:t>
            </a:r>
            <a:r>
              <a:rPr sz="1350" b="0" dirty="0">
                <a:solidFill>
                  <a:srgbClr val="4F5A67"/>
                </a:solidFill>
                <a:latin typeface="Microsoft YaHei"/>
              </a:rPr>
              <a:t> </a:t>
            </a:r>
            <a:r>
              <a:rPr sz="1350" b="0" dirty="0" err="1">
                <a:solidFill>
                  <a:srgbClr val="4F5A67"/>
                </a:solidFill>
                <a:latin typeface="Microsoft YaHei"/>
              </a:rPr>
              <a:t>MinIO</a:t>
            </a:r>
            <a:r>
              <a:rPr sz="1350" b="0" dirty="0">
                <a:solidFill>
                  <a:srgbClr val="4F5A67"/>
                </a:solidFill>
                <a:latin typeface="Microsoft YaHei"/>
              </a:rPr>
              <a:t>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92608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309067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 dirty="0" err="1">
                <a:solidFill>
                  <a:srgbClr val="18212B"/>
                </a:solidFill>
                <a:latin typeface="Microsoft YaHei"/>
              </a:rPr>
              <a:t>日志审计</a:t>
            </a:r>
            <a:endParaRPr sz="1650" b="1" dirty="0">
              <a:solidFill>
                <a:srgbClr val="18212B"/>
              </a:solidFill>
              <a:latin typeface="Microsoft YaHe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64224" y="3401568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4F5A67"/>
                </a:solidFill>
                <a:latin typeface="Microsoft YaHei"/>
              </a:rPr>
              <a:t>状态流转、分派、优先级、关闭、删除都保留操作日志。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48056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77824" y="464515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备份策略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956048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 dirty="0" err="1">
                <a:solidFill>
                  <a:srgbClr val="4F5A67"/>
                </a:solidFill>
                <a:latin typeface="Microsoft YaHei"/>
              </a:rPr>
              <a:t>定期备份</a:t>
            </a:r>
            <a:r>
              <a:rPr sz="1350" b="0" dirty="0">
                <a:solidFill>
                  <a:srgbClr val="4F5A67"/>
                </a:solidFill>
                <a:latin typeface="Microsoft YaHei"/>
              </a:rPr>
              <a:t> MySQL 与 </a:t>
            </a:r>
            <a:r>
              <a:rPr sz="1350" b="0" dirty="0" err="1">
                <a:solidFill>
                  <a:srgbClr val="4F5A67"/>
                </a:solidFill>
                <a:latin typeface="Microsoft YaHei"/>
              </a:rPr>
              <a:t>MinIO，升级前先备份再发布</a:t>
            </a:r>
            <a:r>
              <a:rPr sz="1350" b="0" dirty="0">
                <a:solidFill>
                  <a:srgbClr val="4F5A67"/>
                </a:solidFill>
                <a:latin typeface="Microsoft YaHei"/>
              </a:rPr>
              <a:t>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480560"/>
            <a:ext cx="52578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4645152"/>
            <a:ext cx="14630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异常收敛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4224" y="4956048"/>
            <a:ext cx="475488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350" b="0">
                <a:solidFill>
                  <a:srgbClr val="4F5A67"/>
                </a:solidFill>
                <a:latin typeface="Microsoft YaHei"/>
              </a:rPr>
              <a:t>可在网关层补限流、IP 白名单、WAF 与审计日志。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图片、视频与数据流向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这一页解决 IT 对附件路径和数据边界的担心。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1097280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14400" y="2011680"/>
            <a:ext cx="2331720" cy="1645920"/>
          </a:xfrm>
          <a:prstGeom prst="roundRect">
            <a:avLst/>
          </a:prstGeom>
          <a:solidFill>
            <a:srgbClr val="F8E9D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2139696"/>
            <a:ext cx="19202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50" b="1" dirty="0">
                <a:solidFill>
                  <a:srgbClr val="18212B"/>
                </a:solidFill>
                <a:latin typeface="Microsoft YaHei"/>
              </a:rPr>
              <a:t>1. </a:t>
            </a:r>
            <a:r>
              <a:rPr sz="1550" b="1" dirty="0" err="1">
                <a:solidFill>
                  <a:srgbClr val="18212B"/>
                </a:solidFill>
                <a:latin typeface="Microsoft YaHei"/>
              </a:rPr>
              <a:t>小程序上传</a:t>
            </a:r>
            <a:endParaRPr sz="1550" b="1" dirty="0">
              <a:solidFill>
                <a:srgbClr val="18212B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24128" y="2432304"/>
            <a:ext cx="2057400" cy="8412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>
                <a:solidFill>
                  <a:srgbClr val="4F5A67"/>
                </a:solidFill>
                <a:latin typeface="Microsoft YaHei"/>
              </a:rPr>
              <a:t>现场人员在手机端拍照/录视频后，通过公网 HTTPS 网关上传。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2011680"/>
            <a:ext cx="2331720" cy="164592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04488" y="2139696"/>
            <a:ext cx="19202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50" b="1">
                <a:solidFill>
                  <a:srgbClr val="18212B"/>
                </a:solidFill>
                <a:latin typeface="Microsoft YaHei"/>
              </a:rPr>
              <a:t>2. 网关转发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8" y="2432304"/>
            <a:ext cx="2057400" cy="8412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 dirty="0" err="1">
                <a:solidFill>
                  <a:srgbClr val="4F5A67"/>
                </a:solidFill>
                <a:latin typeface="Microsoft YaHei"/>
              </a:rPr>
              <a:t>网关只负责入口，不做业务处理，转发到内网</a:t>
            </a:r>
            <a:r>
              <a:rPr sz="1250" b="0" dirty="0">
                <a:solidFill>
                  <a:srgbClr val="4F5A67"/>
                </a:solidFill>
                <a:latin typeface="Microsoft YaHei"/>
              </a:rPr>
              <a:t> Backend。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2011680"/>
            <a:ext cx="2331720" cy="164592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39128" y="2139696"/>
            <a:ext cx="19202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50" b="1">
                <a:solidFill>
                  <a:srgbClr val="18212B"/>
                </a:solidFill>
                <a:latin typeface="Microsoft YaHei"/>
              </a:rPr>
              <a:t>3. 后端入库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2432304"/>
            <a:ext cx="2057400" cy="8412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 dirty="0">
                <a:solidFill>
                  <a:srgbClr val="4F5A67"/>
                </a:solidFill>
                <a:latin typeface="Microsoft YaHei"/>
              </a:rPr>
              <a:t>Backend </a:t>
            </a:r>
            <a:r>
              <a:rPr sz="1250" b="0" dirty="0" err="1">
                <a:solidFill>
                  <a:srgbClr val="4F5A67"/>
                </a:solidFill>
                <a:latin typeface="Microsoft YaHei"/>
              </a:rPr>
              <a:t>统一校验权限、大小、类型，然后写入内网</a:t>
            </a:r>
            <a:r>
              <a:rPr sz="1250" b="0" dirty="0">
                <a:solidFill>
                  <a:srgbClr val="4F5A67"/>
                </a:solidFill>
                <a:latin typeface="Microsoft YaHei"/>
              </a:rPr>
              <a:t> </a:t>
            </a:r>
            <a:r>
              <a:rPr sz="1250" b="0" dirty="0" err="1">
                <a:solidFill>
                  <a:srgbClr val="4F5A67"/>
                </a:solidFill>
                <a:latin typeface="Microsoft YaHei"/>
              </a:rPr>
              <a:t>MinIO</a:t>
            </a:r>
            <a:r>
              <a:rPr sz="1250" b="0" dirty="0">
                <a:solidFill>
                  <a:srgbClr val="4F5A67"/>
                </a:solidFill>
                <a:latin typeface="Microsoft YaHei"/>
              </a:rPr>
              <a:t> 与 MySQL。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011680"/>
            <a:ext cx="233172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36608" y="2139696"/>
            <a:ext cx="19202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550" b="1">
                <a:solidFill>
                  <a:srgbClr val="18212B"/>
                </a:solidFill>
                <a:latin typeface="Microsoft YaHei"/>
              </a:rPr>
              <a:t>4. 预览读取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36608" y="2432304"/>
            <a:ext cx="2057400" cy="84124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50" b="0" dirty="0" err="1">
                <a:solidFill>
                  <a:srgbClr val="4F5A67"/>
                </a:solidFill>
                <a:latin typeface="Microsoft YaHei"/>
              </a:rPr>
              <a:t>后续</a:t>
            </a:r>
            <a:r>
              <a:rPr sz="1250" b="0" dirty="0">
                <a:solidFill>
                  <a:srgbClr val="4F5A67"/>
                </a:solidFill>
                <a:latin typeface="Microsoft YaHei"/>
              </a:rPr>
              <a:t> Web </a:t>
            </a:r>
            <a:r>
              <a:rPr sz="1250" b="0" dirty="0" err="1">
                <a:solidFill>
                  <a:srgbClr val="4F5A67"/>
                </a:solidFill>
                <a:latin typeface="Microsoft YaHei"/>
              </a:rPr>
              <a:t>或小程序预览时，仍通过后端接口读取，不暴露</a:t>
            </a:r>
            <a:r>
              <a:rPr sz="1250" b="0" dirty="0">
                <a:solidFill>
                  <a:srgbClr val="4F5A67"/>
                </a:solidFill>
                <a:latin typeface="Microsoft YaHei"/>
              </a:rPr>
              <a:t> </a:t>
            </a:r>
            <a:r>
              <a:rPr sz="1250" b="0" dirty="0" err="1">
                <a:solidFill>
                  <a:srgbClr val="4F5A67"/>
                </a:solidFill>
                <a:latin typeface="Microsoft YaHei"/>
              </a:rPr>
              <a:t>MinIO</a:t>
            </a:r>
            <a:r>
              <a:rPr sz="1250" b="0" dirty="0">
                <a:solidFill>
                  <a:srgbClr val="4F5A67"/>
                </a:solidFill>
                <a:latin typeface="Microsoft YaHei"/>
              </a:rPr>
              <a:t> </a:t>
            </a:r>
            <a:r>
              <a:rPr sz="1250" b="0" dirty="0" err="1">
                <a:solidFill>
                  <a:srgbClr val="4F5A67"/>
                </a:solidFill>
                <a:latin typeface="Microsoft YaHei"/>
              </a:rPr>
              <a:t>控制台</a:t>
            </a:r>
            <a:r>
              <a:rPr sz="1250" b="0" dirty="0">
                <a:solidFill>
                  <a:srgbClr val="4F5A67"/>
                </a:solidFill>
                <a:latin typeface="Microsoft YaHei"/>
              </a:rPr>
              <a:t>。</a:t>
            </a:r>
          </a:p>
        </p:txBody>
      </p:sp>
      <p:sp>
        <p:nvSpPr>
          <p:cNvPr id="22" name="Chevron 21"/>
          <p:cNvSpPr/>
          <p:nvPr/>
        </p:nvSpPr>
        <p:spPr>
          <a:xfrm>
            <a:off x="3310128" y="2578608"/>
            <a:ext cx="320040" cy="347472"/>
          </a:xfrm>
          <a:prstGeom prst="chevron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6153912" y="2578608"/>
            <a:ext cx="320040" cy="347472"/>
          </a:xfrm>
          <a:prstGeom prst="chevron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Chevron 23"/>
          <p:cNvSpPr/>
          <p:nvPr/>
        </p:nvSpPr>
        <p:spPr>
          <a:xfrm>
            <a:off x="8933688" y="2578608"/>
            <a:ext cx="320040" cy="347472"/>
          </a:xfrm>
          <a:prstGeom prst="chevron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" y="5074920"/>
            <a:ext cx="987552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700" b="1">
                <a:solidFill>
                  <a:srgbClr val="B84A3A"/>
                </a:solidFill>
                <a:latin typeface="Microsoft YaHei"/>
              </a:rPr>
              <a:t>建议继续保持“附件统一经后端接口上传和预览”的现有实现，这也是最适合内外网混合部署的方式。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实际部署步骤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这页给 IT 照着执行，也能让领导看到工作量和边界。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1563624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阶段 1：先把内网核心跑稳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56232"/>
            <a:ext cx="4800600" cy="10515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部署 MySQL / Redis / MinIO / Backend / Web。</a:t>
            </a:r>
          </a:p>
          <a:p>
            <a:pPr algn="l">
              <a:spcAft>
                <a:spcPts val="800"/>
              </a:spcAft>
            </a:pPr>
            <a:r>
              <a:rPr sz="135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>
                <a:solidFill>
                  <a:srgbClr val="18212B"/>
                </a:solidFill>
                <a:latin typeface="Microsoft YaHei"/>
              </a:rPr>
              <a:t>确认内网 Web 正常访问，后台功能和数据链路可用。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64224" y="1563624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阶段 2：部署公网网关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856232"/>
            <a:ext cx="4800600" cy="10515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准备公网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 HTTPS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域名和证书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35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在 DMZ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或边界区部署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 Nginx / API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Gateway，只代理小程序接口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39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666743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阶段 3：配置微信小程序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959351"/>
            <a:ext cx="4800600" cy="10515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在小程序后台配置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 request/upload/download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合法域名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35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填写正式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AppID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 /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Secret，关闭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 mock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登录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39"/>
            <a:ext cx="5257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64224" y="3666743"/>
            <a:ext cx="329184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650" b="1">
                <a:solidFill>
                  <a:srgbClr val="18212B"/>
                </a:solidFill>
                <a:latin typeface="Microsoft YaHei"/>
              </a:rPr>
              <a:t>阶段 4：真机联调与灰度试用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3959351"/>
            <a:ext cx="4800600" cy="105156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验证登录、录入问题、附件上传、预览、评论、状态流转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35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350" dirty="0" err="1">
                <a:solidFill>
                  <a:srgbClr val="18212B"/>
                </a:solidFill>
                <a:latin typeface="Microsoft YaHei"/>
              </a:rPr>
              <a:t>先选一个真实项目灰度试用，再逐步推广</a:t>
            </a:r>
            <a:r>
              <a:rPr sz="135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正式上线前必须完成的配置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这页主要给 IT 和小程序管理员。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349240" cy="5120640"/>
          </a:xfrm>
          <a:prstGeom prst="roundRect">
            <a:avLst/>
          </a:prstGeom>
          <a:solidFill>
            <a:srgbClr val="E7F0FA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50976" y="1664208"/>
            <a:ext cx="22860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 dirty="0" err="1">
                <a:solidFill>
                  <a:srgbClr val="18212B"/>
                </a:solidFill>
                <a:latin typeface="Microsoft YaHei"/>
              </a:rPr>
              <a:t>后端与环境变量</a:t>
            </a:r>
            <a:endParaRPr sz="2000" b="1" dirty="0">
              <a:solidFill>
                <a:srgbClr val="18212B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69264" y="1993392"/>
            <a:ext cx="4663440" cy="406908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MINIO_PUBLIC_ENDPOINT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指向正式附件访问域名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REPORT_PUBLIC_BASE_URL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指向正式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Web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域名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WECHAT_MINIAPP_MOCK_ENABLED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改为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false。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填写正式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AppID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/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Secret，并按正式域名部署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HTTPS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证书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120640" cy="5120640"/>
          </a:xfrm>
          <a:prstGeom prst="roundRect">
            <a:avLst/>
          </a:prstGeom>
          <a:solidFill>
            <a:srgbClr val="F8E9D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28816" y="1664208"/>
            <a:ext cx="256032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>
                <a:solidFill>
                  <a:srgbClr val="18212B"/>
                </a:solidFill>
                <a:latin typeface="Microsoft YaHei"/>
              </a:rPr>
              <a:t>微信后台配置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7104" y="1993392"/>
            <a:ext cx="4480560" cy="406908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request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合法域名：公网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API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域名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uploadFile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合法域名：公网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API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域名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downloadFile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合法域名：公网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API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域名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真机联调通过后再提交审核与发布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45140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 dirty="0" err="1">
                <a:solidFill>
                  <a:srgbClr val="18212B"/>
                </a:solidFill>
                <a:latin typeface="Microsoft YaHei"/>
              </a:rPr>
              <a:t>价值分别是什么</a:t>
            </a:r>
            <a:endParaRPr sz="2600" b="1" dirty="0">
              <a:solidFill>
                <a:srgbClr val="18212B"/>
              </a:solidFill>
              <a:latin typeface="Microsoft Ya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 dirty="0" err="1">
                <a:solidFill>
                  <a:srgbClr val="4F5A67"/>
                </a:solidFill>
                <a:latin typeface="Microsoft YaHei"/>
              </a:rPr>
              <a:t>同一套方案，要同时回答业务价值和技术可控性</a:t>
            </a:r>
            <a:r>
              <a:rPr sz="1200" b="0" dirty="0">
                <a:solidFill>
                  <a:srgbClr val="4F5A67"/>
                </a:solidFill>
                <a:latin typeface="Microsoft YaHei"/>
              </a:rPr>
              <a:t>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530352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691640"/>
            <a:ext cx="2011680" cy="359073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 dirty="0" err="1">
                <a:solidFill>
                  <a:srgbClr val="18212B"/>
                </a:solidFill>
                <a:latin typeface="Microsoft YaHei"/>
              </a:rPr>
              <a:t>对</a:t>
            </a:r>
            <a:r>
              <a:rPr lang="en-US" sz="2000" b="1" dirty="0" err="1">
                <a:solidFill>
                  <a:srgbClr val="18212B"/>
                </a:solidFill>
                <a:latin typeface="Microsoft YaHei"/>
              </a:rPr>
              <a:t>OPMMC</a:t>
            </a:r>
            <a:endParaRPr sz="2000" b="1" dirty="0">
              <a:solidFill>
                <a:srgbClr val="18212B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87552" y="2011680"/>
            <a:ext cx="4572000" cy="384048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项目问题不再散落在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Excel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和聊天记录里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管理层能按项目看总量、超期、重点问题和责任人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问题从录入到关闭形成闭环，关闭证据可追溯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推进试点时，不需要把核心系统整体搬到公网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417320"/>
            <a:ext cx="5193792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46520" y="1691640"/>
            <a:ext cx="201168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000" b="1">
                <a:solidFill>
                  <a:srgbClr val="18212B"/>
                </a:solidFill>
                <a:latin typeface="Microsoft YaHei"/>
              </a:rPr>
              <a:t>对 IT / 运维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011680"/>
            <a:ext cx="4526280" cy="384048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安全边界清楚：公网只留一层入口，其余留在内网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现有系统代码和部署方式改动最小，维护成本可控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附件、数据库、后台管理都不需要直接暴露公网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  <a:p>
            <a:pPr algn="l">
              <a:spcAft>
                <a:spcPts val="800"/>
              </a:spcAft>
            </a:pPr>
            <a:r>
              <a:rPr sz="1600" b="1" dirty="0">
                <a:solidFill>
                  <a:srgbClr val="33887F"/>
                </a:solidFill>
                <a:latin typeface="Microsoft YaHei"/>
              </a:rPr>
              <a:t>•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后续可继续叠加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 </a:t>
            </a:r>
            <a:r>
              <a:rPr sz="1600" dirty="0" err="1">
                <a:solidFill>
                  <a:srgbClr val="18212B"/>
                </a:solidFill>
                <a:latin typeface="Microsoft YaHei"/>
              </a:rPr>
              <a:t>WAF、限流、审计、监控与备份策略</a:t>
            </a:r>
            <a:r>
              <a:rPr sz="1600" dirty="0">
                <a:solidFill>
                  <a:srgbClr val="18212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当前系统形态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这页用真实界面说明：系统不是概念方案，已经具备可运行基础。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708660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73568" y="1280160"/>
            <a:ext cx="3520440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536192"/>
            <a:ext cx="22860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Web 管理端</a:t>
            </a:r>
          </a:p>
        </p:txBody>
      </p:sp>
      <p:pic>
        <p:nvPicPr>
          <p:cNvPr id="12" name="Picture 11" descr="dashboard_r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1828800"/>
            <a:ext cx="6675120" cy="4206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11312" y="1536192"/>
            <a:ext cx="18288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800" b="1">
                <a:solidFill>
                  <a:srgbClr val="18212B"/>
                </a:solidFill>
                <a:latin typeface="Microsoft YaHei"/>
              </a:rPr>
              <a:t>小程序端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2F93245-E147-DD11-EC94-ED4D180321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473" y="1914616"/>
            <a:ext cx="1980249" cy="412042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" y="91440"/>
            <a:ext cx="11978640" cy="6675120"/>
          </a:xfrm>
          <a:prstGeom prst="rect">
            <a:avLst/>
          </a:prstGeom>
          <a:noFill/>
          <a:ln w="6350">
            <a:solidFill>
              <a:srgbClr val="EA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503920" y="-640080"/>
            <a:ext cx="3657600" cy="3657600"/>
          </a:xfrm>
          <a:prstGeom prst="ellipse">
            <a:avLst/>
          </a:prstGeom>
          <a:solidFill>
            <a:srgbClr val="3388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548640" y="4754880"/>
            <a:ext cx="2743200" cy="2743200"/>
          </a:xfrm>
          <a:prstGeom prst="ellipse">
            <a:avLst/>
          </a:prstGeom>
          <a:solidFill>
            <a:srgbClr val="D36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914400" cy="1828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7B8590"/>
                </a:solidFill>
                <a:latin typeface="Microsoft YaHe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28600"/>
            <a:ext cx="6858000" cy="36576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600" b="1">
                <a:solidFill>
                  <a:srgbClr val="18212B"/>
                </a:solidFill>
                <a:latin typeface="Microsoft YaHei"/>
              </a:rPr>
              <a:t>最终建议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658368"/>
            <a:ext cx="8961120" cy="219456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200" b="0">
                <a:solidFill>
                  <a:srgbClr val="4F5A67"/>
                </a:solidFill>
                <a:latin typeface="Microsoft YaHei"/>
              </a:rPr>
              <a:t>如果准备进入公司内网正式部署，可以按这个结论执行。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1325880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1627632"/>
            <a:ext cx="10149840" cy="41148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2200" b="1">
                <a:solidFill>
                  <a:srgbClr val="18212B"/>
                </a:solidFill>
                <a:latin typeface="Microsoft YaHei"/>
              </a:rPr>
              <a:t>Web 管理端留内网，核心服务和数据留内网，小程序只通过一层公网 HTTPS 网关接入。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2697480"/>
            <a:ext cx="5303520" cy="3383280"/>
          </a:xfrm>
          <a:prstGeom prst="roundRect">
            <a:avLst/>
          </a:prstGeom>
          <a:solidFill>
            <a:srgbClr val="E3F2E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971800"/>
            <a:ext cx="18288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900" b="1">
                <a:solidFill>
                  <a:srgbClr val="18212B"/>
                </a:solidFill>
                <a:latin typeface="Microsoft YaHei"/>
              </a:rPr>
              <a:t>这样做的好处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291840"/>
            <a:ext cx="4572000" cy="237744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满足微信小程序正式发布要求。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核心数据不直接暴露公网。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现有系统改造成本低，部署可控。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便于后续推广到更多项目和团队。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697480"/>
            <a:ext cx="5394960" cy="3383280"/>
          </a:xfrm>
          <a:prstGeom prst="roundRect">
            <a:avLst/>
          </a:prstGeom>
          <a:solidFill>
            <a:srgbClr val="F8E9DE"/>
          </a:solidFill>
          <a:ln w="12700">
            <a:solidFill>
              <a:srgbClr val="E5DF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2971800"/>
            <a:ext cx="2286000" cy="201168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900" b="1">
                <a:solidFill>
                  <a:srgbClr val="18212B"/>
                </a:solidFill>
                <a:latin typeface="Microsoft YaHei"/>
              </a:rPr>
              <a:t>下一步建议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3291840"/>
            <a:ext cx="4663440" cy="2377440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由 IT 确认公网网关部署位、证书和域名方案。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选一个真实项目做灰度试用。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完成真机联调、培训和推广 SOP。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33887F"/>
                </a:solidFill>
                <a:latin typeface="Microsoft YaHei"/>
              </a:rPr>
              <a:t>• </a:t>
            </a:r>
            <a:r>
              <a:rPr sz="1500">
                <a:solidFill>
                  <a:srgbClr val="18212B"/>
                </a:solidFill>
                <a:latin typeface="Microsoft YaHei"/>
              </a:rPr>
              <a:t>上线后逐步补充监控、备份和运维手册。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732</Words>
  <Application>Microsoft Office PowerPoint</Application>
  <PresentationFormat>宽屏</PresentationFormat>
  <Paragraphs>193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LI, Bo</cp:lastModifiedBy>
  <cp:revision>2</cp:revision>
  <dcterms:created xsi:type="dcterms:W3CDTF">2013-01-27T09:14:16Z</dcterms:created>
  <dcterms:modified xsi:type="dcterms:W3CDTF">2026-04-13T06:06:17Z</dcterms:modified>
  <cp:category/>
</cp:coreProperties>
</file>