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85248" y="292608"/>
            <a:ext cx="16916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Microsoft YaHei"/>
              </a:rPr>
              <a:t>FIELD ISSUE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8208" y="6419088"/>
            <a:ext cx="41148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C6D6E8"/>
                </a:solidFill>
                <a:latin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005840"/>
            <a:ext cx="23774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1600" b="1">
                <a:solidFill>
                  <a:srgbClr val="26D6EA"/>
                </a:solidFill>
                <a:latin typeface="Microsoft YaHei"/>
              </a:rPr>
              <a:t>Bridge to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21408"/>
            <a:ext cx="7863840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Microsoft YaHei"/>
              </a:rPr>
              <a:t>非标设备项目现场问题协同系统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26080"/>
            <a:ext cx="73152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D6E0EE"/>
                </a:solidFill>
                <a:latin typeface="Microsoft YaHei"/>
              </a:rPr>
              <a:t>企业风格增强版：项目优先、图像驱动、责任清晰、证据闭环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687568"/>
            <a:ext cx="22860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2026 / 03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85248" y="292608"/>
            <a:ext cx="16916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2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8208" y="6419088"/>
            <a:ext cx="41148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46581"/>
                </a:solidFill>
                <a:latin typeface="Microsoft YaHei"/>
              </a:rPr>
              <a:t>2</a:t>
            </a:r>
          </a:p>
        </p:txBody>
      </p:sp>
      <p:sp>
        <p:nvSpPr>
          <p:cNvPr id="5" name="Arc 4"/>
          <p:cNvSpPr/>
          <p:nvPr/>
        </p:nvSpPr>
        <p:spPr>
          <a:xfrm>
            <a:off x="512064" y="475488"/>
            <a:ext cx="512064" cy="512064"/>
          </a:xfrm>
          <a:prstGeom prst="arc">
            <a:avLst/>
          </a:prstGeom>
          <a:noFill/>
          <a:ln w="38100">
            <a:solidFill>
              <a:srgbClr val="26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804672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为什么要从 Excel 升级成项目化问题协同系统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10972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83080"/>
            <a:ext cx="4846320" cy="43891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700">
                <a:solidFill>
                  <a:srgbClr val="17305F"/>
                </a:solidFill>
                <a:latin typeface="Microsoft YaHei"/>
              </a:rPr>
              <a:t>Excel 只有文字描述，现场图片、视频、责任归属和状态记录都不完整。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700">
                <a:solidFill>
                  <a:srgbClr val="17305F"/>
                </a:solidFill>
                <a:latin typeface="Microsoft YaHei"/>
              </a:rPr>
              <a:t>管理层无法在 10 秒内看懂问题本质，需要反复追问“是什么问题、谁在处理、影响多大”。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700">
                <a:solidFill>
                  <a:srgbClr val="17305F"/>
                </a:solidFill>
                <a:latin typeface="Microsoft YaHei"/>
              </a:rPr>
              <a:t>项目团队无法统一问题口径，责任和关闭验证缺少透明度。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700">
                <a:solidFill>
                  <a:srgbClr val="17305F"/>
                </a:solidFill>
                <a:latin typeface="Microsoft YaHei"/>
              </a:rPr>
              <a:t>不同项目的问题容易混在一起，统计分析没有项目边界。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700">
                <a:solidFill>
                  <a:srgbClr val="17305F"/>
                </a:solidFill>
                <a:latin typeface="Microsoft YaHei"/>
              </a:rPr>
              <a:t>现场与管理层之间信息割裂，关闭也常常没有证据。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33872" y="1719072"/>
            <a:ext cx="5394960" cy="4343400"/>
          </a:xfrm>
          <a:prstGeom prst="roundRect">
            <a:avLst/>
          </a:prstGeom>
          <a:solidFill>
            <a:srgbClr val="F4F9FC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08192" y="1901952"/>
            <a:ext cx="475488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100" b="1">
                <a:solidFill>
                  <a:srgbClr val="17305F"/>
                </a:solidFill>
                <a:latin typeface="Microsoft YaHei"/>
              </a:rPr>
              <a:t>升级后的目标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249424"/>
            <a:ext cx="4663440" cy="34747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小程序负责快速提报和现场跟进，尽量少打字，多媒体先行。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Web 负责项目问题库、责任分派、状态推进和管理分析。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每条问题必须绑定项目、责任人、时间线和关闭证据。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整套系统围绕“项目优先、闭环可追溯”设计。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85248" y="292608"/>
            <a:ext cx="16916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2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8208" y="6419088"/>
            <a:ext cx="41148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46581"/>
                </a:solidFill>
                <a:latin typeface="Microsoft YaHei"/>
              </a:rPr>
              <a:t>3</a:t>
            </a:r>
          </a:p>
        </p:txBody>
      </p:sp>
      <p:sp>
        <p:nvSpPr>
          <p:cNvPr id="5" name="Arc 4"/>
          <p:cNvSpPr/>
          <p:nvPr/>
        </p:nvSpPr>
        <p:spPr>
          <a:xfrm>
            <a:off x="512064" y="475488"/>
            <a:ext cx="512064" cy="512064"/>
          </a:xfrm>
          <a:prstGeom prst="arc">
            <a:avLst/>
          </a:prstGeom>
          <a:noFill/>
          <a:ln w="38100">
            <a:solidFill>
              <a:srgbClr val="26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804672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总体架构与协同方式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896112"/>
            <a:ext cx="832104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1200" b="0">
                <a:solidFill>
                  <a:srgbClr val="546581"/>
                </a:solidFill>
                <a:latin typeface="Microsoft YaHei"/>
              </a:rPr>
              <a:t>微信小程序 + Web 管理端 + 统一后端 + MySQL/Redis/MinIO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65960"/>
            <a:ext cx="1920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212848"/>
            <a:ext cx="1554480" cy="29260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ctr"/>
            <a:r>
              <a:rPr sz="2000" b="1">
                <a:solidFill>
                  <a:srgbClr val="17305F"/>
                </a:solidFill>
                <a:latin typeface="Microsoft YaHei"/>
              </a:rPr>
              <a:t>微信小程序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15184"/>
            <a:ext cx="1554480" cy="10058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ctr"/>
            <a:r>
              <a:rPr sz="1500" b="0">
                <a:solidFill>
                  <a:srgbClr val="546581"/>
                </a:solidFill>
                <a:latin typeface="Microsoft YaHei"/>
              </a:rPr>
              <a:t>现场录入
项目工作台
项目问题库
跟进 / 关闭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965960"/>
            <a:ext cx="1920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2212848"/>
            <a:ext cx="1554480" cy="29260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ctr"/>
            <a:r>
              <a:rPr sz="2000" b="1">
                <a:solidFill>
                  <a:srgbClr val="17305F"/>
                </a:solidFill>
                <a:latin typeface="Microsoft YaHei"/>
              </a:rPr>
              <a:t>Web 管理端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2615184"/>
            <a:ext cx="1554480" cy="10058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ctr"/>
            <a:r>
              <a:rPr sz="1500" b="0">
                <a:solidFill>
                  <a:srgbClr val="546581"/>
                </a:solidFill>
                <a:latin typeface="Microsoft YaHei"/>
              </a:rPr>
              <a:t>驾驶舱
项目问题库
问题详情
用户 / 统计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1965960"/>
            <a:ext cx="1920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79592" y="2212848"/>
            <a:ext cx="1554480" cy="29260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ctr"/>
            <a:r>
              <a:rPr sz="2000" b="1">
                <a:solidFill>
                  <a:srgbClr val="17305F"/>
                </a:solidFill>
                <a:latin typeface="Microsoft YaHei"/>
              </a:rPr>
              <a:t>统一后端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615184"/>
            <a:ext cx="1554480" cy="10058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ctr"/>
            <a:r>
              <a:rPr sz="1500" b="0">
                <a:solidFill>
                  <a:srgbClr val="546581"/>
                </a:solidFill>
                <a:latin typeface="Microsoft YaHei"/>
              </a:rPr>
              <a:t>认证与绑定
RBAC 权限
状态机
附件 / 统计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1965960"/>
            <a:ext cx="1920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2" y="2212848"/>
            <a:ext cx="1554480" cy="29260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ctr"/>
            <a:r>
              <a:rPr sz="2000" b="1">
                <a:solidFill>
                  <a:srgbClr val="17305F"/>
                </a:solidFill>
                <a:latin typeface="Microsoft YaHei"/>
              </a:rPr>
              <a:t>数据层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2615184"/>
            <a:ext cx="1554480" cy="10058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ctr"/>
            <a:r>
              <a:rPr sz="1500" b="0">
                <a:solidFill>
                  <a:srgbClr val="546581"/>
                </a:solidFill>
                <a:latin typeface="Microsoft YaHei"/>
              </a:rPr>
              <a:t>MySQL
Redis
MinIO
Docker Compose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645152"/>
            <a:ext cx="10424160" cy="9601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ctr"/>
            <a:r>
              <a:rPr sz="1800" b="1">
                <a:solidFill>
                  <a:srgbClr val="17305F"/>
                </a:solidFill>
                <a:latin typeface="Microsoft YaHei"/>
              </a:rPr>
              <a:t>关键原则：状态流转、权限校验、编号生成、统计口径全部收口在后端；前端只负责录入、查看和推进。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85248" y="292608"/>
            <a:ext cx="16916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2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8208" y="6419088"/>
            <a:ext cx="41148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46581"/>
                </a:solidFill>
                <a:latin typeface="Microsoft YaHei"/>
              </a:rPr>
              <a:t>4</a:t>
            </a:r>
          </a:p>
        </p:txBody>
      </p:sp>
      <p:sp>
        <p:nvSpPr>
          <p:cNvPr id="5" name="Arc 4"/>
          <p:cNvSpPr/>
          <p:nvPr/>
        </p:nvSpPr>
        <p:spPr>
          <a:xfrm>
            <a:off x="512064" y="475488"/>
            <a:ext cx="512064" cy="512064"/>
          </a:xfrm>
          <a:prstGeom prst="arc">
            <a:avLst/>
          </a:prstGeom>
          <a:noFill/>
          <a:ln w="38100">
            <a:solidFill>
              <a:srgbClr val="26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804672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Web 管理端：页面总览与定位</a:t>
            </a:r>
          </a:p>
        </p:txBody>
      </p:sp>
      <p:pic>
        <p:nvPicPr>
          <p:cNvPr id="7" name="Picture 6" descr="web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81328"/>
            <a:ext cx="6629400" cy="378822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481328"/>
            <a:ext cx="3749039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719072"/>
            <a:ext cx="310896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100" b="1">
                <a:solidFill>
                  <a:srgbClr val="17305F"/>
                </a:solidFill>
                <a:latin typeface="Microsoft YaHei"/>
              </a:rPr>
              <a:t>核心页面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35824" y="2029968"/>
            <a:ext cx="3154680" cy="3657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登录页：账号密码登录后台。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驾驶舱：按项目查看总览，未选项目时自动轮巡。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项目选择器：先选项目，再进项目问题库。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项目问题库：筛选、录入、查看问题。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问题详情：附件预览、分派、推进、关闭。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项目管理：项目主数据与项目团队。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用户管理：企业账号、微信绑定、导入。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统计分析与字典管理。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85248" y="292608"/>
            <a:ext cx="16916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2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8208" y="6419088"/>
            <a:ext cx="41148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46581"/>
                </a:solidFill>
                <a:latin typeface="Microsoft YaHei"/>
              </a:rPr>
              <a:t>5</a:t>
            </a:r>
          </a:p>
        </p:txBody>
      </p:sp>
      <p:sp>
        <p:nvSpPr>
          <p:cNvPr id="5" name="Arc 4"/>
          <p:cNvSpPr/>
          <p:nvPr/>
        </p:nvSpPr>
        <p:spPr>
          <a:xfrm>
            <a:off x="512064" y="475488"/>
            <a:ext cx="512064" cy="512064"/>
          </a:xfrm>
          <a:prstGeom prst="arc">
            <a:avLst/>
          </a:prstGeom>
          <a:noFill/>
          <a:ln w="38100">
            <a:solidFill>
              <a:srgbClr val="26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804672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Web 驾驶舱：管理层的一号页面</a:t>
            </a:r>
          </a:p>
        </p:txBody>
      </p:sp>
      <p:pic>
        <p:nvPicPr>
          <p:cNvPr id="7" name="Picture 6" descr="web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54480"/>
            <a:ext cx="7132320" cy="407561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55279" y="1554480"/>
            <a:ext cx="3337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6448" y="1810512"/>
            <a:ext cx="2880360" cy="3931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顶部项目选择器：手动切换到单项目视图。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若不选择项目，系统自动轮巡各项目，适合大屏场景。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KPI 卡显示问题总数、未关闭、高优先级、超期。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趋势图和重点问题帮助管理层快速找到要先处理的项目与问题。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点击项目或重点问题即可继续深入。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85248" y="292608"/>
            <a:ext cx="16916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2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8208" y="6419088"/>
            <a:ext cx="41148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46581"/>
                </a:solidFill>
                <a:latin typeface="Microsoft YaHei"/>
              </a:rPr>
              <a:t>6</a:t>
            </a:r>
          </a:p>
        </p:txBody>
      </p:sp>
      <p:sp>
        <p:nvSpPr>
          <p:cNvPr id="5" name="Arc 4"/>
          <p:cNvSpPr/>
          <p:nvPr/>
        </p:nvSpPr>
        <p:spPr>
          <a:xfrm>
            <a:off x="512064" y="475488"/>
            <a:ext cx="512064" cy="512064"/>
          </a:xfrm>
          <a:prstGeom prst="arc">
            <a:avLst/>
          </a:prstGeom>
          <a:noFill/>
          <a:ln w="38100">
            <a:solidFill>
              <a:srgbClr val="26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804672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Web 项目问题库：项目优先 + 直接录入</a:t>
            </a:r>
          </a:p>
        </p:txBody>
      </p:sp>
      <p:pic>
        <p:nvPicPr>
          <p:cNvPr id="7" name="Picture 6" descr="web_issue_libr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54480"/>
            <a:ext cx="7132320" cy="407561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55279" y="1554480"/>
            <a:ext cx="3337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6448" y="1810512"/>
            <a:ext cx="2880360" cy="3886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所有问题都先归属项目，避免不同项目混池。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顶部统计显示整项目口径，不受分页影响。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支持关键字、责任人、状态、优先级等筛选。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Web 端现在也能录入新问题，不必只靠小程序。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图片和视频附件可直接随问题一起上传。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85248" y="292608"/>
            <a:ext cx="16916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2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8208" y="6419088"/>
            <a:ext cx="41148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46581"/>
                </a:solidFill>
                <a:latin typeface="Microsoft YaHei"/>
              </a:rPr>
              <a:t>7</a:t>
            </a:r>
          </a:p>
        </p:txBody>
      </p:sp>
      <p:sp>
        <p:nvSpPr>
          <p:cNvPr id="5" name="Arc 4"/>
          <p:cNvSpPr/>
          <p:nvPr/>
        </p:nvSpPr>
        <p:spPr>
          <a:xfrm>
            <a:off x="512064" y="475488"/>
            <a:ext cx="512064" cy="512064"/>
          </a:xfrm>
          <a:prstGeom prst="arc">
            <a:avLst/>
          </a:prstGeom>
          <a:noFill/>
          <a:ln w="38100">
            <a:solidFill>
              <a:srgbClr val="26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804672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Web 问题详情：责任、证据、进度在一页完成</a:t>
            </a:r>
          </a:p>
        </p:txBody>
      </p:sp>
      <p:pic>
        <p:nvPicPr>
          <p:cNvPr id="7" name="Picture 6" descr="web_issue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7178040" cy="41017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55279" y="1554480"/>
            <a:ext cx="3337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6448" y="1810512"/>
            <a:ext cx="2880360" cy="3886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打开问题后先看：当前阶段、责任人、下一步、最新动作。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附件在描述区下方直接预览，图片和视频都能点开查看。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右侧直接做分派、优先级调整和状态推进。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关闭时自动记录关闭人、关闭时间，并支持关闭证据。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时间线集中展示系统日志和人工跟进。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85248" y="292608"/>
            <a:ext cx="16916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2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8208" y="6419088"/>
            <a:ext cx="41148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46581"/>
                </a:solidFill>
                <a:latin typeface="Microsoft YaHei"/>
              </a:rPr>
              <a:t>8</a:t>
            </a:r>
          </a:p>
        </p:txBody>
      </p:sp>
      <p:sp>
        <p:nvSpPr>
          <p:cNvPr id="5" name="Arc 4"/>
          <p:cNvSpPr/>
          <p:nvPr/>
        </p:nvSpPr>
        <p:spPr>
          <a:xfrm>
            <a:off x="512064" y="475488"/>
            <a:ext cx="512064" cy="512064"/>
          </a:xfrm>
          <a:prstGeom prst="arc">
            <a:avLst/>
          </a:prstGeom>
          <a:noFill/>
          <a:ln w="38100">
            <a:solidFill>
              <a:srgbClr val="26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804672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项目管理与项目团队：岗位不等于系统权限</a:t>
            </a:r>
          </a:p>
        </p:txBody>
      </p:sp>
      <p:pic>
        <p:nvPicPr>
          <p:cNvPr id="7" name="Picture 6" descr="web_project_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554480"/>
            <a:ext cx="7132320" cy="407561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73568" y="1554480"/>
            <a:ext cx="32918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74736" y="1810512"/>
            <a:ext cx="2788920" cy="3886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项目页维护项目编号、名称、客户、项目经理和计划日期。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项目团队决定谁属于这个项目，谁能被分派问题。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每个成员可配置项目岗位，以及可分派/可验证/可关闭权限。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支持从现有 OPL 同步成员，也支持批量导入。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这样责任人下拉不会出现不属于该项目的人。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85248" y="292608"/>
            <a:ext cx="16916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2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8208" y="6419088"/>
            <a:ext cx="41148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46581"/>
                </a:solidFill>
                <a:latin typeface="Microsoft YaHei"/>
              </a:rPr>
              <a:t>9</a:t>
            </a:r>
          </a:p>
        </p:txBody>
      </p:sp>
      <p:sp>
        <p:nvSpPr>
          <p:cNvPr id="5" name="Arc 4"/>
          <p:cNvSpPr/>
          <p:nvPr/>
        </p:nvSpPr>
        <p:spPr>
          <a:xfrm>
            <a:off x="512064" y="475488"/>
            <a:ext cx="512064" cy="512064"/>
          </a:xfrm>
          <a:prstGeom prst="arc">
            <a:avLst/>
          </a:prstGeom>
          <a:noFill/>
          <a:ln w="38100">
            <a:solidFill>
              <a:srgbClr val="26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804672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用户体系：企业账号为主，微信只做绑定和免密入口</a:t>
            </a:r>
          </a:p>
        </p:txBody>
      </p:sp>
      <p:pic>
        <p:nvPicPr>
          <p:cNvPr id="7" name="Picture 6" descr="web_user_mgm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54480"/>
            <a:ext cx="7178040" cy="41017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91856" y="1554480"/>
            <a:ext cx="32918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93024" y="1810512"/>
            <a:ext cx="2761488" cy="3886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管理员先创建企业账号、角色和部门。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首次小程序登录时进行企业账号绑定。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若仍是初始密码，系统强制改密。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后续小程序可微信免密进入，Web 端继续账号密码登录。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避免纯微信昵称登录带来的身份混乱。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85248" y="292608"/>
            <a:ext cx="16916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2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8208" y="6419088"/>
            <a:ext cx="41148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46581"/>
                </a:solidFill>
                <a:latin typeface="Microsoft YaHei"/>
              </a:rPr>
              <a:t>10</a:t>
            </a:r>
          </a:p>
        </p:txBody>
      </p:sp>
      <p:sp>
        <p:nvSpPr>
          <p:cNvPr id="5" name="Arc 4"/>
          <p:cNvSpPr/>
          <p:nvPr/>
        </p:nvSpPr>
        <p:spPr>
          <a:xfrm>
            <a:off x="512064" y="475488"/>
            <a:ext cx="512064" cy="512064"/>
          </a:xfrm>
          <a:prstGeom prst="arc">
            <a:avLst/>
          </a:prstGeom>
          <a:noFill/>
          <a:ln w="38100">
            <a:solidFill>
              <a:srgbClr val="26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804672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统计分析与字典管理：把项目复盘和标准口径做实</a:t>
            </a:r>
          </a:p>
        </p:txBody>
      </p:sp>
      <p:pic>
        <p:nvPicPr>
          <p:cNvPr id="7" name="Picture 6" descr="web_st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72768"/>
            <a:ext cx="7178040" cy="41017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73568" y="1572768"/>
            <a:ext cx="331012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74736" y="1828800"/>
            <a:ext cx="2798064" cy="3840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统计页看趋势、状态结构、项目压力和重点问题。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驾驶舱偏总览，统计页偏分析与复盘。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字典管理负责问题分类、来源、模块、部门等标准化。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500">
                <a:solidFill>
                  <a:srgbClr val="17305F"/>
                </a:solidFill>
                <a:latin typeface="Microsoft YaHei"/>
              </a:rPr>
              <a:t>没有统一字典，后续筛选和统计会越来越失真。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85248" y="292608"/>
            <a:ext cx="16916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2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8208" y="6419088"/>
            <a:ext cx="41148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46581"/>
                </a:solidFill>
                <a:latin typeface="Microsoft YaHei"/>
              </a:rPr>
              <a:t>11</a:t>
            </a:r>
          </a:p>
        </p:txBody>
      </p:sp>
      <p:sp>
        <p:nvSpPr>
          <p:cNvPr id="5" name="Arc 4"/>
          <p:cNvSpPr/>
          <p:nvPr/>
        </p:nvSpPr>
        <p:spPr>
          <a:xfrm>
            <a:off x="512064" y="475488"/>
            <a:ext cx="512064" cy="512064"/>
          </a:xfrm>
          <a:prstGeom prst="arc">
            <a:avLst/>
          </a:prstGeom>
          <a:noFill/>
          <a:ln w="38100">
            <a:solidFill>
              <a:srgbClr val="26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804672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小程序：现场轻操作的完整页面体系</a:t>
            </a:r>
          </a:p>
        </p:txBody>
      </p:sp>
      <p:pic>
        <p:nvPicPr>
          <p:cNvPr id="7" name="Picture 6" descr="mini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08760"/>
            <a:ext cx="1965960" cy="4025537"/>
          </a:xfrm>
          <a:prstGeom prst="rect">
            <a:avLst/>
          </a:prstGeom>
        </p:spPr>
      </p:pic>
      <p:pic>
        <p:nvPicPr>
          <p:cNvPr id="8" name="Picture 7" descr="mini_sele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508760"/>
            <a:ext cx="1965960" cy="4025537"/>
          </a:xfrm>
          <a:prstGeom prst="rect">
            <a:avLst/>
          </a:prstGeom>
        </p:spPr>
      </p:pic>
      <p:pic>
        <p:nvPicPr>
          <p:cNvPr id="9" name="Picture 8" descr="mini_cre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1508760"/>
            <a:ext cx="1965960" cy="4025537"/>
          </a:xfrm>
          <a:prstGeom prst="rect">
            <a:avLst/>
          </a:prstGeom>
        </p:spPr>
      </p:pic>
      <p:pic>
        <p:nvPicPr>
          <p:cNvPr id="10" name="Picture 9" descr="mini_libra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2864" y="1508760"/>
            <a:ext cx="1965960" cy="4025537"/>
          </a:xfrm>
          <a:prstGeom prst="rect">
            <a:avLst/>
          </a:prstGeom>
        </p:spPr>
      </p:pic>
      <p:pic>
        <p:nvPicPr>
          <p:cNvPr id="11" name="Picture 10" descr="mini_deta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7696" y="1508760"/>
            <a:ext cx="1965960" cy="402553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532120"/>
            <a:ext cx="103327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705856"/>
            <a:ext cx="960120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ctr"/>
            <a:r>
              <a:rPr sz="1500" b="1">
                <a:solidFill>
                  <a:srgbClr val="17305F"/>
                </a:solidFill>
                <a:latin typeface="Microsoft YaHei"/>
              </a:rPr>
              <a:t>登录、首页、项目选择、项目工作台、项目统计、新建问题、项目问题库、问题详情、我的问题、待我处理、个人中心。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85248" y="292608"/>
            <a:ext cx="16916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2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8208" y="6419088"/>
            <a:ext cx="41148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46581"/>
                </a:solidFill>
                <a:latin typeface="Microsoft YaHei"/>
              </a:rPr>
              <a:t>12</a:t>
            </a:r>
          </a:p>
        </p:txBody>
      </p:sp>
      <p:sp>
        <p:nvSpPr>
          <p:cNvPr id="5" name="Arc 4"/>
          <p:cNvSpPr/>
          <p:nvPr/>
        </p:nvSpPr>
        <p:spPr>
          <a:xfrm>
            <a:off x="512064" y="475488"/>
            <a:ext cx="512064" cy="512064"/>
          </a:xfrm>
          <a:prstGeom prst="arc">
            <a:avLst/>
          </a:prstGeom>
          <a:noFill/>
          <a:ln w="38100">
            <a:solidFill>
              <a:srgbClr val="26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804672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小程序主链路：先选项目，再录入 / 查看 / 跟进</a:t>
            </a:r>
          </a:p>
        </p:txBody>
      </p:sp>
      <p:pic>
        <p:nvPicPr>
          <p:cNvPr id="7" name="Picture 6" descr="mini_sele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572768"/>
            <a:ext cx="2011680" cy="4119154"/>
          </a:xfrm>
          <a:prstGeom prst="rect">
            <a:avLst/>
          </a:prstGeom>
        </p:spPr>
      </p:pic>
      <p:pic>
        <p:nvPicPr>
          <p:cNvPr id="8" name="Picture 7" descr="mini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1572768"/>
            <a:ext cx="2011680" cy="4119154"/>
          </a:xfrm>
          <a:prstGeom prst="rect">
            <a:avLst/>
          </a:prstGeom>
        </p:spPr>
      </p:pic>
      <p:pic>
        <p:nvPicPr>
          <p:cNvPr id="9" name="Picture 8" descr="mini_libr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944" y="1572768"/>
            <a:ext cx="2011680" cy="4119154"/>
          </a:xfrm>
          <a:prstGeom prst="rect">
            <a:avLst/>
          </a:prstGeom>
        </p:spPr>
      </p:pic>
      <p:pic>
        <p:nvPicPr>
          <p:cNvPr id="10" name="Picture 9" descr="mini_deta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368" y="1572768"/>
            <a:ext cx="2011680" cy="41191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104120" y="1874519"/>
            <a:ext cx="10515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ctr"/>
            <a:r>
              <a:rPr sz="2800" b="1">
                <a:solidFill>
                  <a:srgbClr val="17305F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04120" y="2487168"/>
            <a:ext cx="10515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ctr"/>
            <a:r>
              <a:rPr sz="2800" b="1">
                <a:solidFill>
                  <a:srgbClr val="17305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04120" y="3099816"/>
            <a:ext cx="10515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ctr"/>
            <a:r>
              <a:rPr sz="2800" b="1">
                <a:solidFill>
                  <a:srgbClr val="17305F"/>
                </a:solidFill>
                <a:latin typeface="Microsoft Ya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4120" y="3712463"/>
            <a:ext cx="10515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ctr"/>
            <a:r>
              <a:rPr sz="2800" b="1">
                <a:solidFill>
                  <a:srgbClr val="17305F"/>
                </a:solidFill>
                <a:latin typeface="Microsoft Ya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1847088"/>
            <a:ext cx="1463040" cy="29260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400">
                <a:solidFill>
                  <a:srgbClr val="17305F"/>
                </a:solidFill>
                <a:latin typeface="Microsoft YaHei"/>
              </a:rPr>
              <a:t>选项目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400">
                <a:solidFill>
                  <a:srgbClr val="17305F"/>
                </a:solidFill>
                <a:latin typeface="Microsoft YaHei"/>
              </a:rPr>
              <a:t>进工作台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400">
                <a:solidFill>
                  <a:srgbClr val="17305F"/>
                </a:solidFill>
                <a:latin typeface="Microsoft YaHei"/>
              </a:rPr>
              <a:t>看项目问题库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400">
                <a:solidFill>
                  <a:srgbClr val="17305F"/>
                </a:solidFill>
                <a:latin typeface="Microsoft YaHei"/>
              </a:rPr>
              <a:t>进入详情做跟进/关闭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85248" y="292608"/>
            <a:ext cx="16916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2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8208" y="6419088"/>
            <a:ext cx="41148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46581"/>
                </a:solidFill>
                <a:latin typeface="Microsoft YaHei"/>
              </a:rPr>
              <a:t>13</a:t>
            </a:r>
          </a:p>
        </p:txBody>
      </p:sp>
      <p:sp>
        <p:nvSpPr>
          <p:cNvPr id="5" name="Arc 4"/>
          <p:cNvSpPr/>
          <p:nvPr/>
        </p:nvSpPr>
        <p:spPr>
          <a:xfrm>
            <a:off x="512064" y="475488"/>
            <a:ext cx="512064" cy="512064"/>
          </a:xfrm>
          <a:prstGeom prst="arc">
            <a:avLst/>
          </a:prstGeom>
          <a:noFill/>
          <a:ln w="38100">
            <a:solidFill>
              <a:srgbClr val="26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804672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小程序录入新问题：现场员工的核心动作</a:t>
            </a:r>
          </a:p>
        </p:txBody>
      </p:sp>
      <p:pic>
        <p:nvPicPr>
          <p:cNvPr id="7" name="Picture 6" descr="mini_cre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627632"/>
            <a:ext cx="2240280" cy="4587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310128" y="1627632"/>
            <a:ext cx="7909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901952"/>
            <a:ext cx="7315200" cy="3794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当前项目、录入人、录入时间自动带入。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录入时填写标题、描述、优先级、影响等级，尽量减少现场自由发挥。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支持照片和视频；单文件 5MB、视频 15 秒，可压缩后上传。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图片和视频会直接成为问题附件，管理层打开问题即可看到现场。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这页的目标是让现场员工随时拿起手机就能报问题，而不是回办公室补 Excel。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85248" y="292608"/>
            <a:ext cx="16916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2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8208" y="6419088"/>
            <a:ext cx="41148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46581"/>
                </a:solidFill>
                <a:latin typeface="Microsoft YaHei"/>
              </a:rPr>
              <a:t>14</a:t>
            </a:r>
          </a:p>
        </p:txBody>
      </p:sp>
      <p:sp>
        <p:nvSpPr>
          <p:cNvPr id="5" name="Arc 4"/>
          <p:cNvSpPr/>
          <p:nvPr/>
        </p:nvSpPr>
        <p:spPr>
          <a:xfrm>
            <a:off x="512064" y="475488"/>
            <a:ext cx="512064" cy="512064"/>
          </a:xfrm>
          <a:prstGeom prst="arc">
            <a:avLst/>
          </a:prstGeom>
          <a:noFill/>
          <a:ln w="38100">
            <a:solidFill>
              <a:srgbClr val="26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804672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小程序项目问题库：管理层也能在手机上看清项目 OPL</a:t>
            </a:r>
          </a:p>
        </p:txBody>
      </p:sp>
      <p:pic>
        <p:nvPicPr>
          <p:cNvPr id="7" name="Picture 6" descr="mini_libr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627632"/>
            <a:ext cx="2240280" cy="4587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310128" y="1627632"/>
            <a:ext cx="7909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901952"/>
            <a:ext cx="7315200" cy="3794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顶部显示整项目口径统计，不会随着翻页而改变。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状态卡已经压成双列紧凑布局，适合现场手机查看。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支持状态筛选、责任人筛选和关键字搜索。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重点信息不是堆字段，而是看责任人、当前进度和下一步。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管理层在现场也能快速看某个项目的全部 OPL。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85248" y="292608"/>
            <a:ext cx="16916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2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8208" y="6419088"/>
            <a:ext cx="41148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46581"/>
                </a:solidFill>
                <a:latin typeface="Microsoft YaHei"/>
              </a:rPr>
              <a:t>15</a:t>
            </a:r>
          </a:p>
        </p:txBody>
      </p:sp>
      <p:sp>
        <p:nvSpPr>
          <p:cNvPr id="5" name="Arc 4"/>
          <p:cNvSpPr/>
          <p:nvPr/>
        </p:nvSpPr>
        <p:spPr>
          <a:xfrm>
            <a:off x="512064" y="475488"/>
            <a:ext cx="512064" cy="512064"/>
          </a:xfrm>
          <a:prstGeom prst="arc">
            <a:avLst/>
          </a:prstGeom>
          <a:noFill/>
          <a:ln w="38100">
            <a:solidFill>
              <a:srgbClr val="26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804672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小程序问题详情：附件预览、跟进提交、关闭证据</a:t>
            </a:r>
          </a:p>
        </p:txBody>
      </p:sp>
      <p:pic>
        <p:nvPicPr>
          <p:cNvPr id="7" name="Picture 6" descr="mini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627632"/>
            <a:ext cx="2240280" cy="4587240"/>
          </a:xfrm>
          <a:prstGeom prst="rect">
            <a:avLst/>
          </a:prstGeom>
        </p:spPr>
      </p:pic>
      <p:pic>
        <p:nvPicPr>
          <p:cNvPr id="8" name="Picture 7" descr="mini_pro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968" y="1627632"/>
            <a:ext cx="2011680" cy="411915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291840" y="1627632"/>
            <a:ext cx="528523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1901952"/>
            <a:ext cx="4754880" cy="3794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问题描述下方直接预览图片和视频，小图点开可中框预览。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跟进记录支持文本 + 图片 + 视频。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如果当前动作是关闭问题，可以上传关闭证据附件。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关闭后自动显示关闭人、关闭时间、关闭说明和关闭证据。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这页既是现场跟进页，也是移动端证据页。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85248" y="292608"/>
            <a:ext cx="16916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2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8208" y="6419088"/>
            <a:ext cx="41148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46581"/>
                </a:solidFill>
                <a:latin typeface="Microsoft YaHei"/>
              </a:rPr>
              <a:t>16</a:t>
            </a:r>
          </a:p>
        </p:txBody>
      </p:sp>
      <p:sp>
        <p:nvSpPr>
          <p:cNvPr id="5" name="Arc 4"/>
          <p:cNvSpPr/>
          <p:nvPr/>
        </p:nvSpPr>
        <p:spPr>
          <a:xfrm>
            <a:off x="512064" y="475488"/>
            <a:ext cx="512064" cy="512064"/>
          </a:xfrm>
          <a:prstGeom prst="arc">
            <a:avLst/>
          </a:prstGeom>
          <a:noFill/>
          <a:ln w="38100">
            <a:solidFill>
              <a:srgbClr val="26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804672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怎么使用：按角色看最直接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3520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75104"/>
            <a:ext cx="301752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200" b="1">
                <a:solidFill>
                  <a:srgbClr val="17305F"/>
                </a:solidFill>
                <a:latin typeface="Microsoft YaHei"/>
              </a:rPr>
              <a:t>现场人员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395728"/>
            <a:ext cx="2971800" cy="3291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选项目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录新问题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上传图片/视频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后续补跟进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1737360"/>
            <a:ext cx="3520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1975104"/>
            <a:ext cx="301752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200" b="1">
                <a:solidFill>
                  <a:srgbClr val="17305F"/>
                </a:solidFill>
                <a:latin typeface="Microsoft YaHei"/>
              </a:rPr>
              <a:t>责任工程师 / 项目经理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2395728"/>
            <a:ext cx="2971800" cy="3291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看待我处理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分派责任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推进状态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关闭并留证据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737360"/>
            <a:ext cx="3520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1975104"/>
            <a:ext cx="301752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200" b="1">
                <a:solidFill>
                  <a:srgbClr val="17305F"/>
                </a:solidFill>
                <a:latin typeface="Microsoft YaHei"/>
              </a:rPr>
              <a:t>管理层 / 管理员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344" y="2395728"/>
            <a:ext cx="2971800" cy="3291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看驾驶舱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看项目统计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维护团队和用户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复盘项目问题结构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85248" y="292608"/>
            <a:ext cx="16916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200" b="1">
                <a:solidFill>
                  <a:srgbClr val="17305F"/>
                </a:solidFill>
                <a:latin typeface="Microsoft YaHei"/>
              </a:rPr>
              <a:t>FIELD ISSUE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8208" y="6419088"/>
            <a:ext cx="41148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546581"/>
                </a:solidFill>
                <a:latin typeface="Microsoft YaHei"/>
              </a:rPr>
              <a:t>17</a:t>
            </a:r>
          </a:p>
        </p:txBody>
      </p:sp>
      <p:sp>
        <p:nvSpPr>
          <p:cNvPr id="5" name="Arc 4"/>
          <p:cNvSpPr/>
          <p:nvPr/>
        </p:nvSpPr>
        <p:spPr>
          <a:xfrm>
            <a:off x="512064" y="475488"/>
            <a:ext cx="512064" cy="512064"/>
          </a:xfrm>
          <a:prstGeom prst="arc">
            <a:avLst/>
          </a:prstGeom>
          <a:noFill/>
          <a:ln w="38100">
            <a:solidFill>
              <a:srgbClr val="26D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804672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7305F"/>
                </a:solidFill>
                <a:latin typeface="Microsoft YaHei"/>
              </a:rPr>
              <a:t>部署与上线注意事项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91056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47088"/>
            <a:ext cx="438912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200" b="1">
                <a:solidFill>
                  <a:srgbClr val="17305F"/>
                </a:solidFill>
                <a:latin typeface="Microsoft YaHei"/>
              </a:rPr>
              <a:t>部署方式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12848"/>
            <a:ext cx="4480560" cy="33832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Docker Compose 一键启动：MySQL / Redis / MinIO / Backend / Web。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所有服务统一 UTF-8、Asia/Shanghai 和 ISO 8601。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MinIO 后续可平滑替换为 OSS / COS。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支持本地环境、内网环境和私有化迁移。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591056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847088"/>
            <a:ext cx="438912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200" b="1">
                <a:solidFill>
                  <a:srgbClr val="17305F"/>
                </a:solidFill>
                <a:latin typeface="Microsoft YaHei"/>
              </a:rPr>
              <a:t>小程序真机前要做的事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212848"/>
            <a:ext cx="4480560" cy="33832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接口地址必须切换到手机可访问的 HTTPS 域名。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微信公众平台配置 request / upload / download 合法域名。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正式环境关闭 mock，配置 AppID / Secret。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600">
                <a:solidFill>
                  <a:srgbClr val="17305F"/>
                </a:solidFill>
                <a:latin typeface="Microsoft YaHei"/>
              </a:rPr>
              <a:t>附件预览和上传链路需按正式域名验证。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85248" y="292608"/>
            <a:ext cx="16916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Microsoft YaHei"/>
              </a:rPr>
              <a:t>FIELD ISSUE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8208" y="6419088"/>
            <a:ext cx="41148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C6D6E8"/>
                </a:solidFill>
                <a:latin typeface="Microsoft YaHe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786384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1800" b="1">
                <a:solidFill>
                  <a:srgbClr val="26D6EA"/>
                </a:solidFill>
                <a:latin typeface="Microsoft YaHei"/>
              </a:rPr>
              <a:t>最终价值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93392"/>
            <a:ext cx="8595360" cy="10972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把 Excel 问题表，变成一个真正可协同、可追责、可关闭、可复盘的企业现场问题系统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" y="3383280"/>
            <a:ext cx="7498079" cy="19202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700">
                <a:solidFill>
                  <a:srgbClr val="17305F"/>
                </a:solidFill>
                <a:latin typeface="Microsoft YaHei"/>
              </a:rPr>
              <a:t>项目内问题分库，避免跨项目混乱。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700">
                <a:solidFill>
                  <a:srgbClr val="17305F"/>
                </a:solidFill>
                <a:latin typeface="Microsoft YaHei"/>
              </a:rPr>
              <a:t>现场图像化录入，管理层打开问题即可理解现场。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700">
                <a:solidFill>
                  <a:srgbClr val="17305F"/>
                </a:solidFill>
                <a:latin typeface="Microsoft YaHei"/>
              </a:rPr>
              <a:t>责任清晰、状态明确、关闭有证据。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5ABB3"/>
                </a:solidFill>
                <a:latin typeface="Microsoft YaHei"/>
              </a:rPr>
              <a:t>• </a:t>
            </a:r>
            <a:r>
              <a:rPr sz="1700">
                <a:solidFill>
                  <a:srgbClr val="17305F"/>
                </a:solidFill>
                <a:latin typeface="Microsoft YaHei"/>
              </a:rPr>
              <a:t>Web 和小程序共用一套后端与数据，适合持续迭代。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