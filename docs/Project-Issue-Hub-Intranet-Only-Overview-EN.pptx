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03920" y="-640080"/>
            <a:ext cx="3657600" cy="3657600"/>
          </a:xfrm>
          <a:prstGeom prst="ellipse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48640" y="4754880"/>
            <a:ext cx="2743200" cy="2743200"/>
          </a:xfrm>
          <a:prstGeom prst="ellipse">
            <a:avLst/>
          </a:prstGeom>
          <a:solidFill>
            <a:srgbClr val="D3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0352" y="502920"/>
            <a:ext cx="4800600" cy="5669280"/>
          </a:xfrm>
          <a:prstGeom prst="roundRect">
            <a:avLst/>
          </a:prstGeom>
          <a:solidFill>
            <a:srgbClr val="1821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822960"/>
            <a:ext cx="32918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>
                <a:solidFill>
                  <a:srgbClr val="CDD5DC"/>
                </a:solidFill>
                <a:latin typeface="Microsoft YaHei"/>
              </a:rPr>
              <a:t>PROJECT ISSUE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170432"/>
            <a:ext cx="3931920" cy="1143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Intranet-Only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Deployment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834640"/>
            <a:ext cx="3840480" cy="10515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0" dirty="0">
                <a:solidFill>
                  <a:srgbClr val="E0E7EC"/>
                </a:solidFill>
                <a:latin typeface="Microsoft YaHei"/>
              </a:rPr>
              <a:t>For leadership &amp; IT</a:t>
            </a:r>
          </a:p>
          <a:p>
            <a:pPr algn="l"/>
            <a:r>
              <a:rPr sz="1600" b="0" dirty="0">
                <a:solidFill>
                  <a:srgbClr val="E0E7EC"/>
                </a:solidFill>
                <a:latin typeface="Microsoft YaHei"/>
              </a:rPr>
              <a:t>All services stay in the intranet.</a:t>
            </a:r>
          </a:p>
          <a:p>
            <a:pPr algn="l"/>
            <a:r>
              <a:rPr sz="1600" b="0" dirty="0">
                <a:solidFill>
                  <a:srgbClr val="E0E7EC"/>
                </a:solidFill>
                <a:latin typeface="Microsoft YaHei"/>
              </a:rPr>
              <a:t>Access via Web only.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5376672"/>
            <a:ext cx="2697480" cy="457200"/>
          </a:xfrm>
          <a:prstGeom prst="roundRect">
            <a:avLst/>
          </a:prstGeom>
          <a:solidFill>
            <a:srgbClr val="36404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5468112"/>
            <a:ext cx="2286000" cy="14630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Private Network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868680"/>
            <a:ext cx="539496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>
                <a:solidFill>
                  <a:srgbClr val="7B8590"/>
                </a:solidFill>
                <a:latin typeface="Microsoft YaHei"/>
              </a:rPr>
              <a:t>INTRANET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1170432"/>
            <a:ext cx="557784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500" b="1" dirty="0">
                <a:solidFill>
                  <a:srgbClr val="18212B"/>
                </a:solidFill>
                <a:latin typeface="Microsoft YaHei"/>
              </a:rPr>
              <a:t>All core services remain inside the corporate network.</a:t>
            </a:r>
          </a:p>
          <a:p>
            <a:pPr algn="l"/>
            <a:r>
              <a:rPr sz="2500" b="1" dirty="0">
                <a:solidFill>
                  <a:srgbClr val="18212B"/>
                </a:solidFill>
                <a:latin typeface="Microsoft YaHei"/>
              </a:rPr>
              <a:t>Users access via Web on intranet.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68696" y="2299497"/>
            <a:ext cx="5120640" cy="1188720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No public exposure of backend, databases, or storage.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Single intranet domain for Web access.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Operations stay within internal security policies.</a:t>
            </a:r>
          </a:p>
        </p:txBody>
      </p:sp>
      <p:pic>
        <p:nvPicPr>
          <p:cNvPr id="14" name="Picture 13" descr="dashboard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4023360"/>
            <a:ext cx="3291840" cy="2148840"/>
          </a:xfrm>
          <a:prstGeom prst="rect">
            <a:avLst/>
          </a:prstGeom>
        </p:spPr>
      </p:pic>
      <p:pic>
        <p:nvPicPr>
          <p:cNvPr id="15" name="Picture 14" descr="issue_detail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712" y="4023360"/>
            <a:ext cx="1965960" cy="2148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46920" y="6236208"/>
            <a:ext cx="1417320" cy="12801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050" b="0">
                <a:solidFill>
                  <a:srgbClr val="7B8590"/>
                </a:solidFill>
                <a:latin typeface="Microsoft YaHei"/>
              </a:rPr>
              <a:t>2026-04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03920" y="-640080"/>
            <a:ext cx="3657600" cy="3657600"/>
          </a:xfrm>
          <a:prstGeom prst="ellipse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48640" y="4754880"/>
            <a:ext cx="2743200" cy="2743200"/>
          </a:xfrm>
          <a:prstGeom prst="ellipse">
            <a:avLst/>
          </a:prstGeom>
          <a:solidFill>
            <a:srgbClr val="D3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56032"/>
            <a:ext cx="9144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7B8590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28600"/>
            <a:ext cx="8229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600" b="1">
                <a:solidFill>
                  <a:srgbClr val="18212B"/>
                </a:solidFill>
                <a:latin typeface="Microsoft YaHei"/>
              </a:rP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658368"/>
            <a:ext cx="960120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>
                <a:solidFill>
                  <a:srgbClr val="4F5A67"/>
                </a:solidFill>
                <a:latin typeface="Microsoft YaHei"/>
              </a:rPr>
              <a:t>Pain points from Excel-based OPL and the targeted improvements.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5074920"/>
          </a:xfrm>
          <a:prstGeom prst="roundRect">
            <a:avLst/>
          </a:prstGeom>
          <a:solidFill>
            <a:srgbClr val="F8E9DE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1645920"/>
            <a:ext cx="292608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000" b="1">
                <a:solidFill>
                  <a:srgbClr val="18212B"/>
                </a:solidFill>
                <a:latin typeface="Microsoft YaHei"/>
              </a:rPr>
              <a:t>Current Pain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1993392"/>
            <a:ext cx="4572000" cy="2431435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Issues recorded as plain text, without full</a:t>
            </a:r>
            <a:r>
              <a:rPr lang="en-US" sz="1600" dirty="0">
                <a:solidFill>
                  <a:srgbClr val="18212B"/>
                </a:solidFill>
                <a:latin typeface="Microsoft YaHei"/>
              </a:rPr>
              <a:t> </a:t>
            </a:r>
            <a:r>
              <a:rPr lang="en-US" altLang="zh-CN" sz="1600" dirty="0">
                <a:solidFill>
                  <a:srgbClr val="18212B"/>
                </a:solidFill>
                <a:latin typeface="Microsoft YaHei"/>
              </a:rPr>
              <a:t>workshop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 context.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Repeated questions about impact, owner, and next step.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Status flow and ownership are not transparent.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Cross-project issues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are混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 in one list.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Statistics are manual, slow, and inconsistent.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32588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645920"/>
            <a:ext cx="274320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000" b="1">
                <a:solidFill>
                  <a:srgbClr val="18212B"/>
                </a:solidFill>
                <a:latin typeface="Microsoft YaHei"/>
              </a:rPr>
              <a:t>What We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1993392"/>
            <a:ext cx="4663440" cy="3383280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>
                <a:solidFill>
                  <a:srgbClr val="18212B"/>
                </a:solidFill>
                <a:latin typeface="Microsoft YaHei"/>
              </a:rPr>
              <a:t>Single intranet web system for all projects.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>
                <a:solidFill>
                  <a:srgbClr val="18212B"/>
                </a:solidFill>
                <a:latin typeface="Microsoft YaHei"/>
              </a:rPr>
              <a:t>Clear owner, status, next action, and closure evidence.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>
                <a:solidFill>
                  <a:srgbClr val="18212B"/>
                </a:solidFill>
                <a:latin typeface="Microsoft YaHei"/>
              </a:rPr>
              <a:t>Project-level dashboards and reporting.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>
                <a:solidFill>
                  <a:srgbClr val="18212B"/>
                </a:solidFill>
                <a:latin typeface="Microsoft YaHei"/>
              </a:rPr>
              <a:t>Unified issue library with standard lifecycle.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03920" y="-640080"/>
            <a:ext cx="3657600" cy="3657600"/>
          </a:xfrm>
          <a:prstGeom prst="ellipse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48640" y="4754880"/>
            <a:ext cx="2743200" cy="2743200"/>
          </a:xfrm>
          <a:prstGeom prst="ellipse">
            <a:avLst/>
          </a:prstGeom>
          <a:solidFill>
            <a:srgbClr val="D3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56032"/>
            <a:ext cx="9144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7B8590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28600"/>
            <a:ext cx="8229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600" b="1">
                <a:solidFill>
                  <a:srgbClr val="18212B"/>
                </a:solidFill>
                <a:latin typeface="Microsoft YaHei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658368"/>
            <a:ext cx="960120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>
                <a:solidFill>
                  <a:srgbClr val="4F5A67"/>
                </a:solidFill>
                <a:latin typeface="Microsoft YaHei"/>
              </a:rPr>
              <a:t>Web-first intranet deployment for project issue collaboration.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2606040" cy="2103120"/>
          </a:xfrm>
          <a:prstGeom prst="roundRect">
            <a:avLst/>
          </a:prstGeom>
          <a:solidFill>
            <a:srgbClr val="F8E9DE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176272"/>
            <a:ext cx="219456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50" b="1">
                <a:solidFill>
                  <a:srgbClr val="18212B"/>
                </a:solidFill>
                <a:latin typeface="Microsoft YaHei"/>
              </a:rPr>
              <a:t>1.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514600"/>
            <a:ext cx="22860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 dirty="0">
                <a:solidFill>
                  <a:srgbClr val="4F5A67"/>
                </a:solidFill>
                <a:latin typeface="Microsoft YaHei"/>
              </a:rPr>
              <a:t>Field / PM enters issue with photos, video, and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011680"/>
            <a:ext cx="2606040" cy="2103120"/>
          </a:xfrm>
          <a:prstGeom prst="roundRect">
            <a:avLst/>
          </a:prstGeom>
          <a:solidFill>
            <a:srgbClr val="E3F2EE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94176" y="2176272"/>
            <a:ext cx="219456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50" b="1">
                <a:solidFill>
                  <a:srgbClr val="18212B"/>
                </a:solidFill>
                <a:latin typeface="Microsoft YaHei"/>
              </a:rPr>
              <a:t>2. Assign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514600"/>
            <a:ext cx="2286000" cy="436017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 dirty="0">
                <a:solidFill>
                  <a:srgbClr val="4F5A67"/>
                </a:solidFill>
                <a:latin typeface="Microsoft YaHei"/>
              </a:rPr>
              <a:t>Owner and department are</a:t>
            </a:r>
            <a:r>
              <a:rPr lang="en-US" sz="1250" b="0" dirty="0">
                <a:solidFill>
                  <a:srgbClr val="4F5A67"/>
                </a:solidFill>
                <a:latin typeface="Microsoft YaHei"/>
              </a:rPr>
              <a:t> c</a:t>
            </a:r>
            <a:r>
              <a:rPr lang="en-US" sz="1250" dirty="0">
                <a:solidFill>
                  <a:srgbClr val="4F5A67"/>
                </a:solidFill>
                <a:latin typeface="Microsoft YaHei"/>
              </a:rPr>
              <a:t>leared</a:t>
            </a:r>
            <a:r>
              <a:rPr sz="1250" b="0" dirty="0">
                <a:solidFill>
                  <a:srgbClr val="4F5A67"/>
                </a:solidFill>
                <a:latin typeface="Microsoft YaHei"/>
              </a:rPr>
              <a:t>, with due dates.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2606040" cy="2103120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28816" y="2176272"/>
            <a:ext cx="219456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50" b="1">
                <a:solidFill>
                  <a:srgbClr val="18212B"/>
                </a:solidFill>
                <a:latin typeface="Microsoft YaHei"/>
              </a:rPr>
              <a:t>3. 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2514600"/>
            <a:ext cx="22860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4F5A67"/>
                </a:solidFill>
                <a:latin typeface="Microsoft YaHei"/>
              </a:rPr>
              <a:t>Status flow with evidence and timeline.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01168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63456" y="2176272"/>
            <a:ext cx="219456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50" b="1">
                <a:solidFill>
                  <a:srgbClr val="18212B"/>
                </a:solidFill>
                <a:latin typeface="Microsoft YaHei"/>
              </a:rPr>
              <a:t>4. Close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2514600"/>
            <a:ext cx="22860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4F5A67"/>
                </a:solidFill>
                <a:latin typeface="Microsoft YaHei"/>
              </a:rPr>
              <a:t>Verification and closure evidence retained.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800" b="1" dirty="0">
                <a:solidFill>
                  <a:srgbClr val="B84A3A"/>
                </a:solidFill>
                <a:latin typeface="Microsoft YaHei"/>
              </a:rPr>
              <a:t>Key idea: One intranet system, unified rules, clear ownership, and full traceability.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03920" y="-640080"/>
            <a:ext cx="3657600" cy="3657600"/>
          </a:xfrm>
          <a:prstGeom prst="ellipse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48640" y="4754880"/>
            <a:ext cx="2743200" cy="2743200"/>
          </a:xfrm>
          <a:prstGeom prst="ellipse">
            <a:avLst/>
          </a:prstGeom>
          <a:solidFill>
            <a:srgbClr val="D3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56032"/>
            <a:ext cx="9144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7B8590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28600"/>
            <a:ext cx="8229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600" b="1">
                <a:solidFill>
                  <a:srgbClr val="18212B"/>
                </a:solidFill>
                <a:latin typeface="Microsoft YaHei"/>
              </a:rPr>
              <a:t>Intranet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658368"/>
            <a:ext cx="960120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>
                <a:solidFill>
                  <a:srgbClr val="4F5A67"/>
                </a:solidFill>
                <a:latin typeface="Microsoft YaHei"/>
              </a:rPr>
              <a:t>All services remain inside the corporate network.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7899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719072"/>
            <a:ext cx="292608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900" b="1">
                <a:solidFill>
                  <a:srgbClr val="18212B"/>
                </a:solidFill>
                <a:latin typeface="Microsoft YaHei"/>
              </a:rPr>
              <a:t>Intranet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560320"/>
            <a:ext cx="1645920" cy="1097280"/>
          </a:xfrm>
          <a:prstGeom prst="roundRect">
            <a:avLst/>
          </a:prstGeom>
          <a:solidFill>
            <a:srgbClr val="F7F3EC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2788920"/>
            <a:ext cx="146304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500" b="1">
                <a:solidFill>
                  <a:srgbClr val="18212B"/>
                </a:solidFill>
                <a:latin typeface="Microsoft YaHei"/>
              </a:rPr>
              <a:t>Web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063240"/>
            <a:ext cx="146304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150" b="0">
                <a:solidFill>
                  <a:srgbClr val="4F5A67"/>
                </a:solidFill>
                <a:latin typeface="Microsoft YaHei"/>
              </a:rPr>
              <a:t>Vue3</a:t>
            </a:r>
          </a:p>
          <a:p>
            <a:pPr algn="ctr"/>
            <a:r>
              <a:rPr sz="1150" b="0">
                <a:solidFill>
                  <a:srgbClr val="4F5A67"/>
                </a:solidFill>
                <a:latin typeface="Microsoft YaHei"/>
              </a:rPr>
              <a:t>Intranet domain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560320"/>
            <a:ext cx="1645920" cy="1097280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2788920"/>
            <a:ext cx="146304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500" b="1">
                <a:solidFill>
                  <a:srgbClr val="18212B"/>
                </a:solidFill>
                <a:latin typeface="Microsoft YaHe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063240"/>
            <a:ext cx="146304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150" b="0">
                <a:solidFill>
                  <a:srgbClr val="4F5A67"/>
                </a:solidFill>
                <a:latin typeface="Microsoft YaHei"/>
              </a:rPr>
              <a:t>Spring Boot</a:t>
            </a:r>
          </a:p>
          <a:p>
            <a:pPr algn="ctr"/>
            <a:r>
              <a:rPr sz="1150" b="0">
                <a:solidFill>
                  <a:srgbClr val="4F5A67"/>
                </a:solidFill>
                <a:latin typeface="Microsoft YaHei"/>
              </a:rPr>
              <a:t>Unified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2560320"/>
            <a:ext cx="1645920" cy="1097280"/>
          </a:xfrm>
          <a:prstGeom prst="roundRect">
            <a:avLst/>
          </a:prstGeom>
          <a:solidFill>
            <a:srgbClr val="F7F3EC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06440" y="2788920"/>
            <a:ext cx="146304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500" b="1">
                <a:solidFill>
                  <a:srgbClr val="18212B"/>
                </a:solidFill>
                <a:latin typeface="Microsoft YaHei"/>
              </a:rPr>
              <a:t>MySQL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8152" y="3063240"/>
            <a:ext cx="146304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150" b="0">
                <a:solidFill>
                  <a:srgbClr val="4F5A67"/>
                </a:solidFill>
                <a:latin typeface="Microsoft YaHei"/>
              </a:rPr>
              <a:t>Business 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2560320"/>
            <a:ext cx="1645920" cy="1097280"/>
          </a:xfrm>
          <a:prstGeom prst="roundRect">
            <a:avLst/>
          </a:prstGeom>
          <a:solidFill>
            <a:srgbClr val="F7F3EC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0" y="2788920"/>
            <a:ext cx="146304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500" b="1">
                <a:solidFill>
                  <a:srgbClr val="18212B"/>
                </a:solidFill>
                <a:latin typeface="Microsoft YaHei"/>
              </a:rPr>
              <a:t>Redis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063240"/>
            <a:ext cx="146304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150" b="0">
                <a:solidFill>
                  <a:srgbClr val="4F5A67"/>
                </a:solidFill>
                <a:latin typeface="Microsoft YaHei"/>
              </a:rPr>
              <a:t>Cache / Session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2560320"/>
            <a:ext cx="1645920" cy="1097280"/>
          </a:xfrm>
          <a:prstGeom prst="roundRect">
            <a:avLst/>
          </a:prstGeom>
          <a:solidFill>
            <a:srgbClr val="F7F3EC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0" y="2788920"/>
            <a:ext cx="146304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500" b="1">
                <a:solidFill>
                  <a:srgbClr val="18212B"/>
                </a:solidFill>
                <a:latin typeface="Microsoft YaHei"/>
              </a:rPr>
              <a:t>MinIO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3063240"/>
            <a:ext cx="146304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150" b="0">
                <a:solidFill>
                  <a:srgbClr val="4F5A67"/>
                </a:solidFill>
                <a:latin typeface="Microsoft YaHei"/>
              </a:rPr>
              <a:t>Attachments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4206240"/>
            <a:ext cx="98755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50" b="0">
                <a:solidFill>
                  <a:srgbClr val="4F5A67"/>
                </a:solidFill>
                <a:latin typeface="Microsoft YaHei"/>
              </a:rPr>
              <a:t>Access via intranet domain only. No public endpoints required in this version.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03920" y="-640080"/>
            <a:ext cx="3657600" cy="3657600"/>
          </a:xfrm>
          <a:prstGeom prst="ellipse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48640" y="4754880"/>
            <a:ext cx="2743200" cy="2743200"/>
          </a:xfrm>
          <a:prstGeom prst="ellipse">
            <a:avLst/>
          </a:prstGeom>
          <a:solidFill>
            <a:srgbClr val="D3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56032"/>
            <a:ext cx="9144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7B8590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28600"/>
            <a:ext cx="8229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600" b="1">
                <a:solidFill>
                  <a:srgbClr val="18212B"/>
                </a:solidFill>
                <a:latin typeface="Microsoft YaHei"/>
              </a:rPr>
              <a:t>Security &amp;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658368"/>
            <a:ext cx="960120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>
                <a:solidFill>
                  <a:srgbClr val="4F5A67"/>
                </a:solidFill>
                <a:latin typeface="Microsoft YaHei"/>
              </a:rPr>
              <a:t>Simple controls aligned with internal security policy.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57800" cy="1417320"/>
          </a:xfrm>
          <a:prstGeom prst="roundRect">
            <a:avLst/>
          </a:prstGeom>
          <a:solidFill>
            <a:srgbClr val="E3F2EE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719072"/>
            <a:ext cx="164592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1">
                <a:solidFill>
                  <a:srgbClr val="18212B"/>
                </a:solidFill>
                <a:latin typeface="Microsoft YaHei"/>
              </a:rPr>
              <a:t>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057400"/>
            <a:ext cx="475488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0">
                <a:solidFill>
                  <a:srgbClr val="4F5A67"/>
                </a:solidFill>
                <a:latin typeface="Microsoft YaHei"/>
              </a:rPr>
              <a:t>Only intranet DNS resolution and firewall ACLs allow 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57800" cy="1417320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64224" y="1719072"/>
            <a:ext cx="164592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1">
                <a:solidFill>
                  <a:srgbClr val="18212B"/>
                </a:solidFill>
                <a:latin typeface="Microsoft YaHei"/>
              </a:rPr>
              <a:t>RBAC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057400"/>
            <a:ext cx="475488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0">
                <a:solidFill>
                  <a:srgbClr val="4F5A67"/>
                </a:solidFill>
                <a:latin typeface="Microsoft YaHei"/>
              </a:rPr>
              <a:t>Role-based permission model for pages and 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8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3547872"/>
            <a:ext cx="164592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1">
                <a:solidFill>
                  <a:srgbClr val="18212B"/>
                </a:solidFill>
                <a:latin typeface="Microsoft YaHei"/>
              </a:rPr>
              <a:t>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86200"/>
            <a:ext cx="475488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0">
                <a:solidFill>
                  <a:srgbClr val="4F5A67"/>
                </a:solidFill>
                <a:latin typeface="Microsoft YaHei"/>
              </a:rPr>
              <a:t>Status flow, assignment, priority changes, closures all logged.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38328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64224" y="3547872"/>
            <a:ext cx="164592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1">
                <a:solidFill>
                  <a:srgbClr val="18212B"/>
                </a:solidFill>
                <a:latin typeface="Microsoft YaHei"/>
              </a:rPr>
              <a:t>Backups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886200"/>
            <a:ext cx="475488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0">
                <a:solidFill>
                  <a:srgbClr val="4F5A67"/>
                </a:solidFill>
                <a:latin typeface="Microsoft YaHei"/>
              </a:rPr>
              <a:t>MySQL + MinIO backups on schedule.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03920" y="-640080"/>
            <a:ext cx="3657600" cy="3657600"/>
          </a:xfrm>
          <a:prstGeom prst="ellipse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48640" y="4754880"/>
            <a:ext cx="2743200" cy="2743200"/>
          </a:xfrm>
          <a:prstGeom prst="ellipse">
            <a:avLst/>
          </a:prstGeom>
          <a:solidFill>
            <a:srgbClr val="D3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56032"/>
            <a:ext cx="9144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7B8590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28600"/>
            <a:ext cx="8229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600" b="1">
                <a:solidFill>
                  <a:srgbClr val="18212B"/>
                </a:solidFill>
                <a:latin typeface="Microsoft YaHei"/>
              </a:rPr>
              <a:t>Deployment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658368"/>
            <a:ext cx="960120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>
                <a:solidFill>
                  <a:srgbClr val="4F5A67"/>
                </a:solidFill>
                <a:latin typeface="Microsoft YaHei"/>
              </a:rPr>
              <a:t>Minimal steps for IT to deliver an intranet-only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57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609344"/>
            <a:ext cx="32918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50" b="1">
                <a:solidFill>
                  <a:srgbClr val="18212B"/>
                </a:solidFill>
                <a:latin typeface="Microsoft YaHei"/>
              </a:rPr>
              <a:t>Step 1: Deploy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901952"/>
            <a:ext cx="4800600" cy="1051560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350">
                <a:solidFill>
                  <a:srgbClr val="18212B"/>
                </a:solidFill>
                <a:latin typeface="Microsoft YaHei"/>
              </a:rPr>
              <a:t>MySQL / Redis / MinIO / Backend / Web in intranet.</a:t>
            </a:r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350">
                <a:solidFill>
                  <a:srgbClr val="18212B"/>
                </a:solidFill>
                <a:latin typeface="Microsoft YaHei"/>
              </a:rPr>
              <a:t>Verify Web login and key 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57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64224" y="1609344"/>
            <a:ext cx="32918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50" b="1">
                <a:solidFill>
                  <a:srgbClr val="18212B"/>
                </a:solidFill>
                <a:latin typeface="Microsoft YaHei"/>
              </a:rPr>
              <a:t>Step 2: Set Intranet DNS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1901952"/>
            <a:ext cx="4800600" cy="1051560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350">
                <a:solidFill>
                  <a:srgbClr val="18212B"/>
                </a:solidFill>
                <a:latin typeface="Microsoft YaHei"/>
              </a:rPr>
              <a:t>Bind `pih-web.intra.company.com` to Web server.</a:t>
            </a:r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350">
                <a:solidFill>
                  <a:srgbClr val="18212B"/>
                </a:solidFill>
                <a:latin typeface="Microsoft YaHei"/>
              </a:rPr>
              <a:t>Restrict access to intranet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5257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3712464"/>
            <a:ext cx="32918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50" b="1">
                <a:solidFill>
                  <a:srgbClr val="18212B"/>
                </a:solidFill>
                <a:latin typeface="Microsoft YaHei"/>
              </a:rPr>
              <a:t>Step 3: Data &amp;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005072"/>
            <a:ext cx="4800600" cy="1051560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350">
                <a:solidFill>
                  <a:srgbClr val="18212B"/>
                </a:solidFill>
                <a:latin typeface="Microsoft YaHei"/>
              </a:rPr>
              <a:t>Import projects and OPL data.</a:t>
            </a:r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350">
                <a:solidFill>
                  <a:srgbClr val="18212B"/>
                </a:solidFill>
                <a:latin typeface="Microsoft YaHei"/>
              </a:rPr>
              <a:t>Create users, roles, and project teams.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66160"/>
            <a:ext cx="5257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64224" y="3712464"/>
            <a:ext cx="32918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50" b="1">
                <a:solidFill>
                  <a:srgbClr val="18212B"/>
                </a:solidFill>
                <a:latin typeface="Microsoft YaHei"/>
              </a:rPr>
              <a:t>Step 4: Go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4005072"/>
            <a:ext cx="4800600" cy="1051560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350">
                <a:solidFill>
                  <a:srgbClr val="18212B"/>
                </a:solidFill>
                <a:latin typeface="Microsoft YaHei"/>
              </a:rPr>
              <a:t>Run a pilot project first, then expand to more teams.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03920" y="-640080"/>
            <a:ext cx="3657600" cy="3657600"/>
          </a:xfrm>
          <a:prstGeom prst="ellipse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48640" y="4754880"/>
            <a:ext cx="2743200" cy="2743200"/>
          </a:xfrm>
          <a:prstGeom prst="ellipse">
            <a:avLst/>
          </a:prstGeom>
          <a:solidFill>
            <a:srgbClr val="D3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56032"/>
            <a:ext cx="9144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7B8590"/>
                </a:solidFill>
                <a:latin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28600"/>
            <a:ext cx="8229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600" b="1">
                <a:solidFill>
                  <a:srgbClr val="18212B"/>
                </a:solidFill>
                <a:latin typeface="Microsoft YaHei"/>
              </a:rPr>
              <a:t>Current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658368"/>
            <a:ext cx="960120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>
                <a:solidFill>
                  <a:srgbClr val="4F5A67"/>
                </a:solidFill>
                <a:latin typeface="Microsoft YaHei"/>
              </a:rPr>
              <a:t>Real screenshots to show the system is operational.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80160"/>
            <a:ext cx="70866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73568" y="1280160"/>
            <a:ext cx="352044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36192"/>
            <a:ext cx="228600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Web Dashboard</a:t>
            </a:r>
          </a:p>
        </p:txBody>
      </p:sp>
      <p:pic>
        <p:nvPicPr>
          <p:cNvPr id="11" name="Picture 10" descr="dashboard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1828800"/>
            <a:ext cx="6675120" cy="4206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11312" y="1536192"/>
            <a:ext cx="182880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Issue Detail</a:t>
            </a:r>
          </a:p>
        </p:txBody>
      </p:sp>
      <p:pic>
        <p:nvPicPr>
          <p:cNvPr id="13" name="Picture 12" descr="issue_detail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828800"/>
            <a:ext cx="29260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03920" y="-640080"/>
            <a:ext cx="3657600" cy="3657600"/>
          </a:xfrm>
          <a:prstGeom prst="ellipse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48640" y="4754880"/>
            <a:ext cx="2743200" cy="2743200"/>
          </a:xfrm>
          <a:prstGeom prst="ellipse">
            <a:avLst/>
          </a:prstGeom>
          <a:solidFill>
            <a:srgbClr val="D3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56032"/>
            <a:ext cx="9144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7B8590"/>
                </a:solidFill>
                <a:latin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28600"/>
            <a:ext cx="8229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600" b="1">
                <a:solidFill>
                  <a:srgbClr val="18212B"/>
                </a:solidFill>
                <a:latin typeface="Microsoft YaHei"/>
              </a:rP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658368"/>
            <a:ext cx="960120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>
                <a:solidFill>
                  <a:srgbClr val="4F5A67"/>
                </a:solidFill>
                <a:latin typeface="Microsoft YaHei"/>
              </a:rPr>
              <a:t>Best fit for internal deployment and adoption.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325880"/>
            <a:ext cx="10881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627632"/>
            <a:ext cx="1014984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200" b="1">
                <a:solidFill>
                  <a:srgbClr val="18212B"/>
                </a:solidFill>
                <a:latin typeface="Microsoft YaHei"/>
              </a:rPr>
              <a:t>Keep all services inside the intranet. Provide Web-only access for internal teams.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697480"/>
            <a:ext cx="5303520" cy="3383280"/>
          </a:xfrm>
          <a:prstGeom prst="roundRect">
            <a:avLst/>
          </a:prstGeom>
          <a:solidFill>
            <a:srgbClr val="E3F2EE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971800"/>
            <a:ext cx="182880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900" b="1">
                <a:solidFill>
                  <a:srgbClr val="18212B"/>
                </a:solidFill>
                <a:latin typeface="Microsoft YaHei"/>
              </a:rPr>
              <a:t>Benefits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91840"/>
            <a:ext cx="4572000" cy="2377440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500">
                <a:solidFill>
                  <a:srgbClr val="18212B"/>
                </a:solidFill>
                <a:latin typeface="Microsoft YaHei"/>
              </a:rPr>
              <a:t>No public exposure of core services.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500">
                <a:solidFill>
                  <a:srgbClr val="18212B"/>
                </a:solidFill>
                <a:latin typeface="Microsoft YaHei"/>
              </a:rPr>
              <a:t>Faster internal approvals.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500">
                <a:solidFill>
                  <a:srgbClr val="18212B"/>
                </a:solidFill>
                <a:latin typeface="Microsoft YaHei"/>
              </a:rPr>
              <a:t>Lower operational risk.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500">
                <a:solidFill>
                  <a:srgbClr val="18212B"/>
                </a:solidFill>
                <a:latin typeface="Microsoft YaHei"/>
              </a:rPr>
              <a:t>Fits internal security policies.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697480"/>
            <a:ext cx="5394960" cy="3383280"/>
          </a:xfrm>
          <a:prstGeom prst="roundRect">
            <a:avLst/>
          </a:prstGeom>
          <a:solidFill>
            <a:srgbClr val="F8E9DE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55664" y="2971800"/>
            <a:ext cx="228600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900" b="1">
                <a:solidFill>
                  <a:srgbClr val="18212B"/>
                </a:solidFill>
                <a:latin typeface="Microsoft YaHei"/>
              </a:rPr>
              <a:t>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291840"/>
            <a:ext cx="4663440" cy="2377440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500">
                <a:solidFill>
                  <a:srgbClr val="18212B"/>
                </a:solidFill>
                <a:latin typeface="Microsoft YaHei"/>
              </a:rPr>
              <a:t>Confirm intranet servers and DNS plan.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500">
                <a:solidFill>
                  <a:srgbClr val="18212B"/>
                </a:solidFill>
                <a:latin typeface="Microsoft YaHei"/>
              </a:rPr>
              <a:t>Pilot with one live project.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500">
                <a:solidFill>
                  <a:srgbClr val="18212B"/>
                </a:solidFill>
                <a:latin typeface="Microsoft YaHei"/>
              </a:rPr>
              <a:t>Finalize training and SOP.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500">
                <a:solidFill>
                  <a:srgbClr val="18212B"/>
                </a:solidFill>
                <a:latin typeface="Microsoft YaHei"/>
              </a:rPr>
              <a:t>Review backup and monitoring cadence.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559</Words>
  <Application>Microsoft Office PowerPoint</Application>
  <PresentationFormat>宽屏</PresentationFormat>
  <Paragraphs>101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LI, Bo (ext)</cp:lastModifiedBy>
  <cp:revision>2</cp:revision>
  <dcterms:created xsi:type="dcterms:W3CDTF">2013-01-27T09:14:16Z</dcterms:created>
  <dcterms:modified xsi:type="dcterms:W3CDTF">2026-04-14T00:51:28Z</dcterms:modified>
  <cp:category/>
</cp:coreProperties>
</file>